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 rozwiązanie" id="{D0E4E03F-B8D6-5CBE-3448-63C30D3BFC73}">
          <p14:sldIdLst>
            <p14:sldId id="256"/>
            <p14:sldId id="257"/>
            <p14:sldId id="258"/>
          </p14:sldIdLst>
        </p14:section>
        <p14:section name="Demonstracja" id="{B95E073D-62BB-5006-E89A-4EEDFE247F3A}">
          <p14:sldIdLst>
            <p14:sldId id="259"/>
            <p14:sldId id="260"/>
          </p14:sldIdLst>
        </p14:section>
        <p14:section name="Dane i architektura" id="{41A34C2F-B616-772B-15ED-A7311E8AAE66}">
          <p14:sldIdLst>
            <p14:sldId id="261"/>
            <p14:sldId id="262"/>
          </p14:sldIdLst>
        </p14:section>
        <p14:section name="Biznes i wdrożenie" id="{3794AD39-BFA0-A96E-36D5-C2F59ECBBD25}">
          <p14:sldIdLst>
            <p14:sldId id="263"/>
            <p14:sldId id="264"/>
          </p14:sldIdLst>
        </p14:section>
        <p14:section name="Podsumowanie" id="{D803A6B4-FD6C-5373-D4CC-968F75EE876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0" d="100"/>
          <a:sy n="80" d="100"/>
        </p:scale>
        <p:origin x="6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112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BezProgu to narzędzie, które zamiast znaczka „dostępne” pokazuje konkretne parametry miejsca i trasy, dopasowane do potrzeb użytkownika. Prototyp skupia się na dwóch grupach: osobach na wózkach i rodzicach z wózkami dziecięcymi. Na zrzucie: karta Sukiennic (dane przykładowe) dla profilu „wózek”.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nie polega tylko na braku informacji, ale na sposobie ich prezentowania. Znaczek „dostępne” nie mówi, czy wejście ma stopnie, jaka jest szerokość drzwi ani skąd ta informacja pochodzi. Nasze dane: w zaimportowanym centrum Krakowa 79% z 1951 miejsc nie ma w OSM żadnego tagu dostępności, a ponad jedna czwarta istniejących informacji ma ponad 2 lata. Te luki pokazujemy użytkownikowi wprost.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Użytkownik określa swoje bariery: wybiera profil wózka lub wózka dziecięcego albo ustawia własne progi, np. maksymalną wysokość progu i minimalną szerokość drzwi. Nie pytamy o niepełnosprawność, a profil jest zapisany tylko w przeglądarce. Wyniki domyślnie są listą tekstową, co jest też tekstową alternatywą dla mapy. Na karcie miejsca użytkownik sam ocenia, czy miejsce mu odpowiada.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jest ścieżka demonstracyjna. Sukiennice to obiekt z danymi przykładowymi, które celowo zawierają wszystkie przypadki z wymagań: barierę dla profilu, wejście alternatywne, dane sprzeczne z dwóch źródeł, dane nieaktualne i brak danych. Przy każdym parametrze widać źródło, datę i status. Dane przykładowe są oznaczone na karcie i w wynikach.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Trasy wyznacza GraphHopper na danych OpenStreetMap z profilem dla wózka: schody są zawsze wykluczone, a kostkę brukową użytkownik może omijać — zmienia to przebieg trasy. Nachylenia terenu jeszcze nie uwzględniamy (brak danych wysokościowych) — to jest na liście dalszych prac. Każdy krok ma nawierzchnię i informację o krawężnikach z datą i źródłem; gdy danych nie ma, mówimy to wprost. Krawężniki na tej trasie pochodzą z demonstracyjnego importu i są oznaczone jako dane przykładowe. Zgłoszenie poprawki zajmuje trzy kroki, nie wymaga konta i od razu pojawia się na karcie jako niezweryfikowane.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Każdy fakt ma źródło, datę obserwacji lub potwierdzenia i status. Trzy statusy przychodzą ze źródła: potwierdzone, z otwartych danych, zgłoszenie użytkownika. Trzy wyliczamy: sprzeczne, może być nieaktualne i brak danych. W demonstracji pokazujemy wszystkie trzy przypadki awarii: dane sprzeczne i niepełne na karcie Sukiennic oraz niedostępne źródło na stronie „Skąd dane” i w wyznaczaniu tras.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Architektura oddziela pozyskiwanie danych od prezentacji. Każde źródło ma własny importer, który zapisuje fakty do wspólnego modelu i aktualizuje status źródła. Gdy źródło jest niedostępne, dane zostają, a status zmienia się na „niedostępne”. Dla Otwartych Danych Krakowa przygotowaliśmy konektor, ale nie znaleźliśmy zbioru z atrybutami dostępności — dlatego w demo to źródło jest pokazane jako niedostępne. Dodanie miasta to uruchomienie importu z innym obszarem. Częstotliwość odświeżania w tabeli to plan dla usługi — w prototypie import uruchamiamy ręcznie.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Użytkownicy końcowi nigdy nie płacą. Przychód pochodzi od obiektów, które chcą pokazać swoją dostępność gościom — np. widget na stronie hotelu, który widać na zrzucie — oraz od platform rezerwacyjnych, dostawców map i miast, które licencjonują dane i API. Kluczowa zasada zaufania: płatny plan nie zmienia statusu wiarygodności ani kolejności wyników. Ceny są propozycją do zweryfikowania w pilotażu.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Produkt prowadzi niezależny operator — startup lub organizacja pozarządowa — poza infrastrukturą miasta. Hosting kosztuje kilkaset złotych miesięcznie i można go przenieść do dowolnego dostawcy, bo całość działa w kontenerach Docker na komponentach open source. Nie zbieramy informacji o niepełnosprawności, profil potrzeb zostaje w przeglądarce, a przy zgłoszeniach zapisujemy tylko skrót adresu IP do ochrony przed nadużyciami. Warunek uruchomienia w kolejnym mieście: ekstrakt OSM regionu i, jeśli są, lokalne otwarte zbiory danych.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Wykonaliśmy podstawową kontrolę dostępności głównego scenariusza: obsługa klawiaturą, komunikaty dla czytników ekranu, kontrast i tekstowa alternatywa mapy. Ograniczenia, które znamy: brak testów z VoiceOver i TalkBack z użytkownikami, mapa nie jest w pełni obsługiwana z klawiatury — dlatego wszystkie informacje z mapy są też w tekście — oraz brak danych o nachyleniu terenu w trasach. Dziękujemy.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lgn="l">
              <a:buNone/>
              <a:defRPr lang="en-US" sz="3000" b="1" dirty="0">
                <a:solidFill>
                  <a:schemeClr val="tx2"/>
                </a:solidFill>
                <a:latin typeface="Arial" pitchFamily="34" charset="0"/>
                <a:ea typeface="Arial" pitchFamily="34" charset="-122"/>
                <a:cs typeface="Arial" pitchFamily="34" charset="-120"/>
              </a:defRPr>
            </a:lvl1pPr>
          </a:lstStyle>
          <a:p>
            <a:pPr marL="0" indent="0" algn="l">
              <a:buNone/>
            </a:pPr>
            <a:endParaRPr lang="en-US" sz="3000" dirty="0"/>
          </a:p>
        </p:txBody>
      </p:sp>
      <p:pic>
        <p:nvPicPr>
          <p:cNvPr id="3" name="Image 0" descr="Znak BezProgu"/>
          <p:cNvPicPr>
            <a:picLocks noChangeAspect="1"/>
          </p:cNvPicPr>
          <p:nvPr/>
        </p:nvPicPr>
        <p:blipFill>
          <a:blip r:embed="rId2"/>
          <a:stretch>
            <a:fillRect/>
          </a:stretch>
        </p:blipFill>
        <p:spPr>
          <a:xfrm>
            <a:off x="548640" y="6391656"/>
            <a:ext cx="198144" cy="292608"/>
          </a:xfrm>
          <a:prstGeom prst="rect">
            <a:avLst/>
          </a:prstGeom>
        </p:spPr>
      </p:pic>
      <p:sp>
        <p:nvSpPr>
          <p:cNvPr id="4" name="Text 0"/>
          <p:cNvSpPr/>
          <p:nvPr/>
        </p:nvSpPr>
        <p:spPr>
          <a:xfrm>
            <a:off x="841248"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latin typeface="Calibri" pitchFamily="34" charset="0"/>
                <a:ea typeface="Calibri" pitchFamily="34" charset="-122"/>
                <a:cs typeface="Calibri" pitchFamily="34" charset="-120"/>
              </a:rPr>
              <a:t>BezProgu · Kraków bez barier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lgn="l">
              <a:buNone/>
              <a:defRPr lang="en-US" sz="3000" b="1" dirty="0">
                <a:solidFill>
                  <a:schemeClr val="bg1"/>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9.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2.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22960"/>
            <a:ext cx="6858000" cy="365760"/>
          </a:xfrm>
          <a:prstGeom prst="rect">
            <a:avLst/>
          </a:prstGeom>
          <a:noFill/>
          <a:ln/>
        </p:spPr>
        <p:txBody>
          <a:bodyPr wrap="square" lIns="0" tIns="0" rIns="0" bIns="0" rtlCol="0" anchor="t"/>
          <a:lstStyle/>
          <a:p>
            <a:pPr marL="0" indent="0">
              <a:buNone/>
            </a:pPr>
            <a:r>
              <a:rPr lang="en-US" sz="1600" b="1" dirty="0">
                <a:solidFill>
                  <a:schemeClr val="accent1">
                    <a:lumMod val="20000"/>
                    <a:lumOff val="80000"/>
                  </a:schemeClr>
                </a:solidFill>
              </a:rPr>
              <a:t>Kraków bez barier · HackYeah 2026</a:t>
            </a:r>
            <a:endParaRPr lang="en-US" sz="1600" dirty="0">
              <a:solidFill>
                <a:schemeClr val="accent1">
                  <a:lumMod val="20000"/>
                  <a:lumOff val="80000"/>
                </a:schemeClr>
              </a:solidFill>
            </a:endParaRPr>
          </a:p>
        </p:txBody>
      </p:sp>
      <p:sp>
        <p:nvSpPr>
          <p:cNvPr id="3" name="Logo – tło"/>
          <p:cNvSpPr/>
          <p:nvPr/>
        </p:nvSpPr>
        <p:spPr>
          <a:xfrm>
            <a:off x="548640" y="1298448"/>
            <a:ext cx="3027317" cy="1143000"/>
          </a:xfrm>
          <a:prstGeom prst="roundRect">
            <a:avLst>
              <a:gd name="adj" fmla="val 18000"/>
            </a:avLst>
          </a:prstGeom>
          <a:solidFill>
            <a:schemeClr val="bg1"/>
          </a:solidFill>
          <a:ln w="12700">
            <a:solidFill>
              <a:schemeClr val="bg1"/>
            </a:solidFill>
            <a:prstDash val="solid"/>
          </a:ln>
        </p:spPr>
        <p:txBody>
          <a:bodyPr/>
          <a:lstStyle/>
          <a:p>
            <a:endParaRPr lang="pl-PL"/>
          </a:p>
        </p:txBody>
      </p:sp>
      <p:pic>
        <p:nvPicPr>
          <p:cNvPr id="4" name="Logo BezProgu" descr="Logo BezProgu"/>
          <p:cNvPicPr>
            <a:picLocks noChangeAspect="1"/>
          </p:cNvPicPr>
          <p:nvPr/>
        </p:nvPicPr>
        <p:blipFill>
          <a:blip r:embed="rId3"/>
          <a:stretch>
            <a:fillRect/>
          </a:stretch>
        </p:blipFill>
        <p:spPr>
          <a:xfrm>
            <a:off x="822960" y="1527048"/>
            <a:ext cx="2478677" cy="685800"/>
          </a:xfrm>
          <a:prstGeom prst="rect">
            <a:avLst/>
          </a:prstGeom>
        </p:spPr>
      </p:pic>
      <p:sp>
        <p:nvSpPr>
          <p:cNvPr id="5" name="Text 2"/>
          <p:cNvSpPr txBox="1"/>
          <p:nvPr/>
        </p:nvSpPr>
        <p:spPr>
          <a:xfrm>
            <a:off x="548640" y="2514600"/>
            <a:ext cx="7132320" cy="640080"/>
          </a:xfrm>
          <a:prstGeom prst="rect">
            <a:avLst/>
          </a:prstGeom>
          <a:noFill/>
          <a:ln/>
        </p:spPr>
        <p:txBody>
          <a:bodyPr wrap="square" lIns="0" tIns="0" rIns="0" bIns="0" rtlCol="0" anchor="ctr"/>
          <a:lstStyle/>
          <a:p>
            <a:pPr marL="0" indent="0">
              <a:buNone/>
            </a:pPr>
            <a:r>
              <a:rPr lang="en-US" sz="3200" b="1" dirty="0">
                <a:solidFill>
                  <a:schemeClr val="accent1">
                    <a:lumMod val="20000"/>
                    <a:lumOff val="80000"/>
                  </a:schemeClr>
                </a:solidFill>
                <a:latin typeface="Arial" pitchFamily="34" charset="0"/>
                <a:ea typeface="Arial" pitchFamily="34" charset="-122"/>
                <a:cs typeface="Arial" pitchFamily="34" charset="-120"/>
              </a:rPr>
              <a:t>Nie </a:t>
            </a:r>
            <a:r>
              <a:rPr lang="pl-PL" sz="3200" b="1" dirty="0">
                <a:solidFill>
                  <a:schemeClr val="accent1">
                    <a:lumMod val="20000"/>
                    <a:lumOff val="80000"/>
                  </a:schemeClr>
                </a:solidFill>
                <a:latin typeface="Arial" pitchFamily="34" charset="0"/>
                <a:ea typeface="Arial" pitchFamily="34" charset="-122"/>
                <a:cs typeface="Arial" pitchFamily="34" charset="-120"/>
              </a:rPr>
              <a:t>„</a:t>
            </a:r>
            <a:r>
              <a:rPr lang="en-US" sz="3200" b="1" dirty="0" err="1">
                <a:solidFill>
                  <a:schemeClr val="accent1">
                    <a:lumMod val="20000"/>
                    <a:lumOff val="80000"/>
                  </a:schemeClr>
                </a:solidFill>
                <a:latin typeface="Arial" pitchFamily="34" charset="0"/>
                <a:ea typeface="Arial" pitchFamily="34" charset="-122"/>
                <a:cs typeface="Arial" pitchFamily="34" charset="-120"/>
              </a:rPr>
              <a:t>dostępne</a:t>
            </a:r>
            <a:r>
              <a:rPr lang="pl-PL" sz="3200" b="1" dirty="0">
                <a:solidFill>
                  <a:schemeClr val="accent1">
                    <a:lumMod val="20000"/>
                    <a:lumOff val="80000"/>
                  </a:schemeClr>
                </a:solidFill>
                <a:latin typeface="Arial" pitchFamily="34" charset="0"/>
                <a:ea typeface="Arial" pitchFamily="34" charset="-122"/>
                <a:cs typeface="Arial" pitchFamily="34" charset="-120"/>
              </a:rPr>
              <a:t>”</a:t>
            </a:r>
            <a:r>
              <a:rPr lang="en-US" sz="3200" b="1" dirty="0">
                <a:solidFill>
                  <a:schemeClr val="accent1">
                    <a:lumMod val="20000"/>
                    <a:lumOff val="80000"/>
                  </a:schemeClr>
                </a:solidFill>
                <a:latin typeface="Arial" pitchFamily="34" charset="0"/>
                <a:ea typeface="Arial" pitchFamily="34" charset="-122"/>
                <a:cs typeface="Arial" pitchFamily="34" charset="-120"/>
              </a:rPr>
              <a:t>. Konkretnie.</a:t>
            </a:r>
            <a:endParaRPr lang="en-US" sz="3200" dirty="0">
              <a:solidFill>
                <a:schemeClr val="accent1">
                  <a:lumMod val="20000"/>
                  <a:lumOff val="80000"/>
                </a:schemeClr>
              </a:solidFill>
            </a:endParaRPr>
          </a:p>
        </p:txBody>
      </p:sp>
      <p:sp>
        <p:nvSpPr>
          <p:cNvPr id="6" name="Text 3"/>
          <p:cNvSpPr txBox="1"/>
          <p:nvPr/>
        </p:nvSpPr>
        <p:spPr>
          <a:xfrm>
            <a:off x="548640" y="3383280"/>
            <a:ext cx="6766560" cy="1188720"/>
          </a:xfrm>
          <a:prstGeom prst="rect">
            <a:avLst/>
          </a:prstGeom>
          <a:noFill/>
          <a:ln/>
        </p:spPr>
        <p:txBody>
          <a:bodyPr wrap="square" lIns="0" tIns="0" rIns="0" bIns="0" rtlCol="0" anchor="t"/>
          <a:lstStyle/>
          <a:p>
            <a:pPr marL="0" indent="0">
              <a:buNone/>
            </a:pPr>
            <a:r>
              <a:rPr lang="en-US" sz="1800" dirty="0">
                <a:solidFill>
                  <a:schemeClr val="bg2"/>
                </a:solidFill>
              </a:rPr>
              <a:t>Sprawdź, czy miejsce lub trasa w Krakowie pasuje do Twoich potrzeb: stopnie, progi, drzwi, nawierzchnia, winda, </a:t>
            </a:r>
            <a:r>
              <a:rPr lang="en-US" sz="1800" dirty="0" err="1">
                <a:solidFill>
                  <a:schemeClr val="bg2"/>
                </a:solidFill>
              </a:rPr>
              <a:t>toaleta</a:t>
            </a:r>
            <a:r>
              <a:rPr lang="en-US" sz="1800" dirty="0">
                <a:solidFill>
                  <a:schemeClr val="bg2"/>
                </a:solidFill>
              </a:rPr>
              <a:t> </a:t>
            </a:r>
            <a:r>
              <a:rPr lang="pl-PL" dirty="0">
                <a:solidFill>
                  <a:schemeClr val="bg2"/>
                </a:solidFill>
              </a:rPr>
              <a:t>-</a:t>
            </a:r>
            <a:r>
              <a:rPr lang="en-US" sz="1800" dirty="0">
                <a:solidFill>
                  <a:schemeClr val="bg2"/>
                </a:solidFill>
              </a:rPr>
              <a:t> z podanym źródłem, datą i wiarygodnością każdej informacji.</a:t>
            </a:r>
            <a:endParaRPr lang="en-US" sz="1800" dirty="0"/>
          </a:p>
        </p:txBody>
      </p:sp>
      <p:sp>
        <p:nvSpPr>
          <p:cNvPr id="13" name="Karta miejsca Sukiennice – ramka"/>
          <p:cNvSpPr/>
          <p:nvPr/>
        </p:nvSpPr>
        <p:spPr>
          <a:xfrm>
            <a:off x="8668512" y="621792"/>
            <a:ext cx="2663201" cy="5614416"/>
          </a:xfrm>
          <a:prstGeom prst="roundRect">
            <a:avLst>
              <a:gd name="adj" fmla="val 7554"/>
            </a:avLst>
          </a:prstGeom>
          <a:solidFill>
            <a:schemeClr val="tx2"/>
          </a:solidFill>
          <a:ln w="12700">
            <a:solidFill>
              <a:schemeClr val="tx2"/>
            </a:solidFill>
            <a:prstDash val="solid"/>
          </a:ln>
          <a:effectLst>
            <a:outerShdw blurRad="101600" dist="38100" dir="5400000" algn="bl" rotWithShape="0">
              <a:srgbClr val="0E2238">
                <a:alpha val="25000"/>
              </a:srgbClr>
            </a:outerShdw>
          </a:effectLst>
        </p:spPr>
        <p:txBody>
          <a:bodyPr/>
          <a:lstStyle/>
          <a:p>
            <a:endParaRPr lang="pl-PL"/>
          </a:p>
        </p:txBody>
      </p:sp>
      <p:pic>
        <p:nvPicPr>
          <p:cNvPr id="14" name="Karta miejsca Sukiennice" descr="Zrzut ekranu aplikacji BezProgu: Karta miejsca Sukiennice"/>
          <p:cNvPicPr>
            <a:picLocks noChangeAspect="1"/>
          </p:cNvPicPr>
          <p:nvPr/>
        </p:nvPicPr>
        <p:blipFill>
          <a:blip r:embed="rId4"/>
          <a:stretch>
            <a:fillRect/>
          </a:stretch>
        </p:blipFill>
        <p:spPr>
          <a:xfrm>
            <a:off x="8732520" y="685800"/>
            <a:ext cx="2535185" cy="5486400"/>
          </a:xfrm>
          <a:prstGeom prst="rect">
            <a:avLst/>
          </a:prstGeom>
        </p:spPr>
      </p:pic>
      <p:sp>
        <p:nvSpPr>
          <p:cNvPr id="22" name="TextBox 21">
            <a:extLst>
              <a:ext uri="{FF2B5EF4-FFF2-40B4-BE49-F238E27FC236}">
                <a16:creationId xmlns:a16="http://schemas.microsoft.com/office/drawing/2014/main" id="{C9B59DE2-BA31-AE2E-F497-337014C5A4A2}"/>
              </a:ext>
            </a:extLst>
          </p:cNvPr>
          <p:cNvSpPr txBox="1"/>
          <p:nvPr/>
        </p:nvSpPr>
        <p:spPr>
          <a:xfrm>
            <a:off x="301371" y="5216652"/>
            <a:ext cx="7379589" cy="923330"/>
          </a:xfrm>
          <a:prstGeom prst="rect">
            <a:avLst/>
          </a:prstGeom>
          <a:noFill/>
        </p:spPr>
        <p:txBody>
          <a:bodyPr wrap="square">
            <a:spAutoFit/>
          </a:bodyPr>
          <a:lstStyle/>
          <a:p>
            <a:pPr algn="ctr" rtl="0">
              <a:buNone/>
            </a:pPr>
            <a:r>
              <a:rPr lang="pl-PL" sz="1800" b="0" i="1" dirty="0">
                <a:solidFill>
                  <a:schemeClr val="bg1"/>
                </a:solidFill>
                <a:effectLst/>
              </a:rPr>
              <a:t>(Różne obiekty x Różne potrzeby) </a:t>
            </a:r>
            <a:r>
              <a:rPr lang="pl-PL" i="1" dirty="0">
                <a:solidFill>
                  <a:schemeClr val="bg1"/>
                </a:solidFill>
              </a:rPr>
              <a:t>+ (</a:t>
            </a:r>
            <a:r>
              <a:rPr lang="pl-PL" sz="1800" b="0" i="1" dirty="0">
                <a:solidFill>
                  <a:schemeClr val="bg1"/>
                </a:solidFill>
                <a:effectLst/>
              </a:rPr>
              <a:t>Idealne dopasowanie x Ułatwiony dostęp</a:t>
            </a:r>
            <a:r>
              <a:rPr lang="pl-PL" i="1" dirty="0">
                <a:solidFill>
                  <a:schemeClr val="bg1"/>
                </a:solidFill>
              </a:rPr>
              <a:t>)</a:t>
            </a:r>
            <a:endParaRPr lang="pl-PL" sz="1800" b="0" i="1" dirty="0">
              <a:solidFill>
                <a:schemeClr val="bg1"/>
              </a:solidFill>
              <a:effectLst/>
            </a:endParaRPr>
          </a:p>
          <a:p>
            <a:pPr algn="ctr" rtl="0">
              <a:buNone/>
            </a:pPr>
            <a:r>
              <a:rPr lang="pl-PL" sz="3600" i="1" dirty="0">
                <a:solidFill>
                  <a:schemeClr val="bg1"/>
                </a:solidFill>
              </a:rPr>
              <a:t>= </a:t>
            </a:r>
            <a:r>
              <a:rPr lang="pl-PL" sz="3600" i="1" dirty="0" err="1">
                <a:solidFill>
                  <a:schemeClr val="bg1"/>
                </a:solidFill>
              </a:rPr>
              <a:t>BezProgu</a:t>
            </a:r>
            <a:endParaRPr lang="pl-PL" sz="8000" i="1" dirty="0">
              <a:solidFill>
                <a:schemeClr val="bg1"/>
              </a:solidFill>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„Dostępne ✓” nie mówi, czy wjedziesz do środka</a:t>
            </a:r>
            <a:endParaRPr lang="en-US" sz="3000" dirty="0"/>
          </a:p>
        </p:txBody>
      </p:sp>
      <p:sp>
        <p:nvSpPr>
          <p:cNvPr id="3" name="Karta: tak jest dziś"/>
          <p:cNvSpPr/>
          <p:nvPr/>
        </p:nvSpPr>
        <p:spPr>
          <a:xfrm>
            <a:off x="548640" y="1325880"/>
            <a:ext cx="5669280" cy="1417320"/>
          </a:xfrm>
          <a:prstGeom prst="roundRect">
            <a:avLst>
              <a:gd name="adj" fmla="val 7742"/>
            </a:avLst>
          </a:prstGeom>
          <a:solidFill>
            <a:srgbClr val="F1F1F1"/>
          </a:solidFill>
          <a:ln w="12700">
            <a:solidFill>
              <a:srgbClr val="F1F1F1"/>
            </a:solidFill>
            <a:prstDash val="solid"/>
          </a:ln>
        </p:spPr>
        <p:txBody>
          <a:bodyPr/>
          <a:lstStyle/>
          <a:p>
            <a:endParaRPr lang="pl-PL"/>
          </a:p>
        </p:txBody>
      </p:sp>
      <p:sp>
        <p:nvSpPr>
          <p:cNvPr id="4" name="Text 2"/>
          <p:cNvSpPr txBox="1"/>
          <p:nvPr/>
        </p:nvSpPr>
        <p:spPr>
          <a:xfrm>
            <a:off x="822960" y="1481328"/>
            <a:ext cx="2743200" cy="274320"/>
          </a:xfrm>
          <a:prstGeom prst="rect">
            <a:avLst/>
          </a:prstGeom>
          <a:noFill/>
          <a:ln/>
        </p:spPr>
        <p:txBody>
          <a:bodyPr wrap="square" lIns="0" tIns="0" rIns="0" bIns="0" rtlCol="0" anchor="t"/>
          <a:lstStyle/>
          <a:p>
            <a:pPr marL="0" indent="0">
              <a:buNone/>
            </a:pPr>
            <a:r>
              <a:rPr lang="en-US" sz="1200" b="1" kern="0" spc="100" dirty="0">
                <a:solidFill>
                  <a:schemeClr val="accent6"/>
                </a:solidFill>
              </a:rPr>
              <a:t>TAK JEST DZIŚ</a:t>
            </a:r>
            <a:endParaRPr lang="en-US" sz="1200" dirty="0"/>
          </a:p>
        </p:txBody>
      </p:sp>
      <p:sp>
        <p:nvSpPr>
          <p:cNvPr id="5" name="Text 3"/>
          <p:cNvSpPr txBox="1"/>
          <p:nvPr/>
        </p:nvSpPr>
        <p:spPr>
          <a:xfrm>
            <a:off x="822960" y="1783080"/>
            <a:ext cx="2377440" cy="548640"/>
          </a:xfrm>
          <a:prstGeom prst="rect">
            <a:avLst/>
          </a:prstGeom>
          <a:noFill/>
          <a:ln/>
        </p:spPr>
        <p:txBody>
          <a:bodyPr wrap="square" lIns="0" tIns="0" rIns="0" bIns="0" rtlCol="0" anchor="ctr"/>
          <a:lstStyle/>
          <a:p>
            <a:pPr marL="0" indent="0">
              <a:buNone/>
            </a:pPr>
            <a:r>
              <a:rPr lang="en-US" sz="2800" b="1" dirty="0">
                <a:solidFill>
                  <a:schemeClr val="accent6"/>
                </a:solidFill>
                <a:latin typeface="Arial" pitchFamily="34" charset="0"/>
                <a:ea typeface="Arial" pitchFamily="34" charset="-122"/>
                <a:cs typeface="Arial" pitchFamily="34" charset="-120"/>
              </a:rPr>
              <a:t>Dostępne ✓</a:t>
            </a:r>
            <a:endParaRPr lang="en-US" sz="2800" dirty="0"/>
          </a:p>
        </p:txBody>
      </p:sp>
      <p:sp>
        <p:nvSpPr>
          <p:cNvPr id="6" name="Text 4"/>
          <p:cNvSpPr txBox="1"/>
          <p:nvPr/>
        </p:nvSpPr>
        <p:spPr>
          <a:xfrm>
            <a:off x="3291840" y="1691640"/>
            <a:ext cx="2743200" cy="914400"/>
          </a:xfrm>
          <a:prstGeom prst="rect">
            <a:avLst/>
          </a:prstGeom>
          <a:noFill/>
          <a:ln/>
        </p:spPr>
        <p:txBody>
          <a:bodyPr wrap="square" lIns="0" tIns="0" rIns="0" bIns="0" rtlCol="0" anchor="ctr"/>
          <a:lstStyle/>
          <a:p>
            <a:pPr marL="0" indent="0">
              <a:buNone/>
            </a:pPr>
            <a:r>
              <a:rPr lang="en-US" sz="1400" dirty="0">
                <a:solidFill>
                  <a:schemeClr val="accent6"/>
                </a:solidFill>
              </a:rPr>
              <a:t>Jeden znaczek. Bez źródła, bez daty, bez szczegółów — i bez odpowiedzi, czy to wystarczy dla Ciebie.</a:t>
            </a:r>
            <a:endParaRPr lang="en-US" sz="1400" dirty="0"/>
          </a:p>
        </p:txBody>
      </p:sp>
      <p:sp>
        <p:nvSpPr>
          <p:cNvPr id="7" name="Karta: tak jest w BezProgu"/>
          <p:cNvSpPr/>
          <p:nvPr/>
        </p:nvSpPr>
        <p:spPr>
          <a:xfrm>
            <a:off x="548640" y="2926080"/>
            <a:ext cx="5669280" cy="3246120"/>
          </a:xfrm>
          <a:prstGeom prst="roundRect">
            <a:avLst>
              <a:gd name="adj" fmla="val 3380"/>
            </a:avLst>
          </a:prstGeom>
          <a:solidFill>
            <a:schemeClr val="bg2"/>
          </a:solidFill>
          <a:ln w="12700">
            <a:solidFill>
              <a:schemeClr val="bg2"/>
            </a:solidFill>
            <a:prstDash val="solid"/>
          </a:ln>
        </p:spPr>
        <p:txBody>
          <a:bodyPr/>
          <a:lstStyle/>
          <a:p>
            <a:endParaRPr lang="pl-PL"/>
          </a:p>
        </p:txBody>
      </p:sp>
      <p:sp>
        <p:nvSpPr>
          <p:cNvPr id="8" name="Text 6"/>
          <p:cNvSpPr txBox="1"/>
          <p:nvPr/>
        </p:nvSpPr>
        <p:spPr>
          <a:xfrm>
            <a:off x="822960" y="3081528"/>
            <a:ext cx="3657600" cy="274320"/>
          </a:xfrm>
          <a:prstGeom prst="rect">
            <a:avLst/>
          </a:prstGeom>
          <a:noFill/>
          <a:ln/>
        </p:spPr>
        <p:txBody>
          <a:bodyPr wrap="square" lIns="0" tIns="0" rIns="0" bIns="0" rtlCol="0" anchor="t"/>
          <a:lstStyle/>
          <a:p>
            <a:pPr marL="0" indent="0">
              <a:buNone/>
            </a:pPr>
            <a:r>
              <a:rPr lang="en-US" sz="1200" b="1" kern="0" spc="100" dirty="0">
                <a:solidFill>
                  <a:schemeClr val="accent1"/>
                </a:solidFill>
              </a:rPr>
              <a:t>TAK JEST W BEZPROGU</a:t>
            </a:r>
            <a:endParaRPr lang="en-US" sz="1200" dirty="0"/>
          </a:p>
        </p:txBody>
      </p:sp>
      <p:pic>
        <p:nvPicPr>
          <p:cNvPr id="9" name="Status barrier" descr="Status barrier"/>
          <p:cNvPicPr>
            <a:picLocks noChangeAspect="1"/>
          </p:cNvPicPr>
          <p:nvPr/>
        </p:nvPicPr>
        <p:blipFill>
          <a:blip r:embed="rId3"/>
          <a:stretch>
            <a:fillRect/>
          </a:stretch>
        </p:blipFill>
        <p:spPr>
          <a:xfrm>
            <a:off x="822960" y="3520440"/>
            <a:ext cx="329184" cy="329184"/>
          </a:xfrm>
          <a:prstGeom prst="rect">
            <a:avLst/>
          </a:prstGeom>
        </p:spPr>
      </p:pic>
      <p:sp>
        <p:nvSpPr>
          <p:cNvPr id="10" name="Text 7"/>
          <p:cNvSpPr txBox="1"/>
          <p:nvPr/>
        </p:nvSpPr>
        <p:spPr>
          <a:xfrm>
            <a:off x="1298448" y="3474720"/>
            <a:ext cx="4754880" cy="292608"/>
          </a:xfrm>
          <a:prstGeom prst="rect">
            <a:avLst/>
          </a:prstGeom>
          <a:noFill/>
          <a:ln/>
        </p:spPr>
        <p:txBody>
          <a:bodyPr wrap="square" lIns="0" tIns="0" rIns="0" bIns="0" rtlCol="0" anchor="t"/>
          <a:lstStyle/>
          <a:p>
            <a:pPr marL="0" indent="0">
              <a:buNone/>
            </a:pPr>
            <a:r>
              <a:rPr lang="en-US" sz="1500" b="1" dirty="0">
                <a:solidFill>
                  <a:schemeClr val="tx1"/>
                </a:solidFill>
              </a:rPr>
              <a:t>Stopnie przy wejściu głównym: 3</a:t>
            </a:r>
            <a:endParaRPr lang="en-US" sz="1500" dirty="0"/>
          </a:p>
        </p:txBody>
      </p:sp>
      <p:sp>
        <p:nvSpPr>
          <p:cNvPr id="11" name="Text 8"/>
          <p:cNvSpPr txBox="1"/>
          <p:nvPr/>
        </p:nvSpPr>
        <p:spPr>
          <a:xfrm>
            <a:off x="1298448" y="3767328"/>
            <a:ext cx="4754880" cy="256032"/>
          </a:xfrm>
          <a:prstGeom prst="rect">
            <a:avLst/>
          </a:prstGeom>
          <a:noFill/>
          <a:ln/>
        </p:spPr>
        <p:txBody>
          <a:bodyPr wrap="square" lIns="0" tIns="0" rIns="0" bIns="0" rtlCol="0" anchor="t"/>
          <a:lstStyle/>
          <a:p>
            <a:pPr marL="0" indent="0">
              <a:buNone/>
            </a:pPr>
            <a:r>
              <a:rPr lang="en-US" sz="1200" dirty="0">
                <a:solidFill>
                  <a:schemeClr val="accent6"/>
                </a:solidFill>
              </a:rPr>
              <a:t>właściciel obiektu, 13.09.2026</a:t>
            </a:r>
            <a:endParaRPr lang="en-US" sz="1200" dirty="0"/>
          </a:p>
        </p:txBody>
      </p:sp>
      <p:pic>
        <p:nvPicPr>
          <p:cNvPr id="12" name="Status match" descr="Status match"/>
          <p:cNvPicPr>
            <a:picLocks noChangeAspect="1"/>
          </p:cNvPicPr>
          <p:nvPr/>
        </p:nvPicPr>
        <p:blipFill>
          <a:blip r:embed="rId4"/>
          <a:stretch>
            <a:fillRect/>
          </a:stretch>
        </p:blipFill>
        <p:spPr>
          <a:xfrm>
            <a:off x="822960" y="4178808"/>
            <a:ext cx="329184" cy="329184"/>
          </a:xfrm>
          <a:prstGeom prst="rect">
            <a:avLst/>
          </a:prstGeom>
        </p:spPr>
      </p:pic>
      <p:sp>
        <p:nvSpPr>
          <p:cNvPr id="13" name="Text 9"/>
          <p:cNvSpPr txBox="1"/>
          <p:nvPr/>
        </p:nvSpPr>
        <p:spPr>
          <a:xfrm>
            <a:off x="1298448" y="4133088"/>
            <a:ext cx="4754880" cy="292608"/>
          </a:xfrm>
          <a:prstGeom prst="rect">
            <a:avLst/>
          </a:prstGeom>
          <a:noFill/>
          <a:ln/>
        </p:spPr>
        <p:txBody>
          <a:bodyPr wrap="square" lIns="0" tIns="0" rIns="0" bIns="0" rtlCol="0" anchor="t"/>
          <a:lstStyle/>
          <a:p>
            <a:pPr marL="0" indent="0">
              <a:buNone/>
            </a:pPr>
            <a:r>
              <a:rPr lang="en-US" sz="1500" b="1" dirty="0">
                <a:solidFill>
                  <a:schemeClr val="tx1"/>
                </a:solidFill>
              </a:rPr>
              <a:t>Wejście boczne bez stopni, z windą</a:t>
            </a:r>
            <a:endParaRPr lang="en-US" sz="1500" dirty="0"/>
          </a:p>
        </p:txBody>
      </p:sp>
      <p:sp>
        <p:nvSpPr>
          <p:cNvPr id="14" name="Text 10"/>
          <p:cNvSpPr txBox="1"/>
          <p:nvPr/>
        </p:nvSpPr>
        <p:spPr>
          <a:xfrm>
            <a:off x="1298448" y="4425696"/>
            <a:ext cx="4754880" cy="256032"/>
          </a:xfrm>
          <a:prstGeom prst="rect">
            <a:avLst/>
          </a:prstGeom>
          <a:noFill/>
          <a:ln/>
        </p:spPr>
        <p:txBody>
          <a:bodyPr wrap="square" lIns="0" tIns="0" rIns="0" bIns="0" rtlCol="0" anchor="t"/>
          <a:lstStyle/>
          <a:p>
            <a:pPr marL="0" indent="0">
              <a:buNone/>
            </a:pPr>
            <a:r>
              <a:rPr lang="en-US" sz="1200" dirty="0">
                <a:solidFill>
                  <a:schemeClr val="accent6"/>
                </a:solidFill>
              </a:rPr>
              <a:t>właściciel obiektu, 13.09.2026</a:t>
            </a:r>
            <a:endParaRPr lang="en-US" sz="1200" dirty="0"/>
          </a:p>
        </p:txBody>
      </p:sp>
      <p:pic>
        <p:nvPicPr>
          <p:cNvPr id="15" name="Status match" descr="Status match"/>
          <p:cNvPicPr>
            <a:picLocks noChangeAspect="1"/>
          </p:cNvPicPr>
          <p:nvPr/>
        </p:nvPicPr>
        <p:blipFill>
          <a:blip r:embed="rId4"/>
          <a:stretch>
            <a:fillRect/>
          </a:stretch>
        </p:blipFill>
        <p:spPr>
          <a:xfrm>
            <a:off x="822960" y="4837176"/>
            <a:ext cx="329184" cy="329184"/>
          </a:xfrm>
          <a:prstGeom prst="rect">
            <a:avLst/>
          </a:prstGeom>
        </p:spPr>
      </p:pic>
      <p:sp>
        <p:nvSpPr>
          <p:cNvPr id="16" name="Text 11"/>
          <p:cNvSpPr txBox="1"/>
          <p:nvPr/>
        </p:nvSpPr>
        <p:spPr>
          <a:xfrm>
            <a:off x="1298448" y="4791456"/>
            <a:ext cx="4754880" cy="292608"/>
          </a:xfrm>
          <a:prstGeom prst="rect">
            <a:avLst/>
          </a:prstGeom>
          <a:noFill/>
          <a:ln/>
        </p:spPr>
        <p:txBody>
          <a:bodyPr wrap="square" lIns="0" tIns="0" rIns="0" bIns="0" rtlCol="0" anchor="t"/>
          <a:lstStyle/>
          <a:p>
            <a:pPr marL="0" indent="0">
              <a:buNone/>
            </a:pPr>
            <a:r>
              <a:rPr lang="en-US" sz="1500" b="1" dirty="0">
                <a:solidFill>
                  <a:schemeClr val="tx1"/>
                </a:solidFill>
              </a:rPr>
              <a:t>Szerokość drzwi: 85 cm (Twoje min. 80 cm)</a:t>
            </a:r>
            <a:endParaRPr lang="en-US" sz="1500" dirty="0"/>
          </a:p>
        </p:txBody>
      </p:sp>
      <p:sp>
        <p:nvSpPr>
          <p:cNvPr id="17" name="Text 12"/>
          <p:cNvSpPr txBox="1"/>
          <p:nvPr/>
        </p:nvSpPr>
        <p:spPr>
          <a:xfrm>
            <a:off x="1298448" y="5084064"/>
            <a:ext cx="4754880" cy="256032"/>
          </a:xfrm>
          <a:prstGeom prst="rect">
            <a:avLst/>
          </a:prstGeom>
          <a:noFill/>
          <a:ln/>
        </p:spPr>
        <p:txBody>
          <a:bodyPr wrap="square" lIns="0" tIns="0" rIns="0" bIns="0" rtlCol="0" anchor="t"/>
          <a:lstStyle/>
          <a:p>
            <a:pPr marL="0" indent="0">
              <a:buNone/>
            </a:pPr>
            <a:r>
              <a:rPr lang="en-US" sz="1200" dirty="0">
                <a:solidFill>
                  <a:schemeClr val="accent6"/>
                </a:solidFill>
              </a:rPr>
              <a:t>właściciel obiektu, 13.09.2026</a:t>
            </a:r>
            <a:endParaRPr lang="en-US" sz="1200" dirty="0"/>
          </a:p>
        </p:txBody>
      </p:sp>
      <p:pic>
        <p:nvPicPr>
          <p:cNvPr id="18" name="Status unknown" descr="Status unknown"/>
          <p:cNvPicPr>
            <a:picLocks noChangeAspect="1"/>
          </p:cNvPicPr>
          <p:nvPr/>
        </p:nvPicPr>
        <p:blipFill>
          <a:blip r:embed="rId5"/>
          <a:stretch>
            <a:fillRect/>
          </a:stretch>
        </p:blipFill>
        <p:spPr>
          <a:xfrm>
            <a:off x="822960" y="5495544"/>
            <a:ext cx="329184" cy="329184"/>
          </a:xfrm>
          <a:prstGeom prst="rect">
            <a:avLst/>
          </a:prstGeom>
        </p:spPr>
      </p:pic>
      <p:sp>
        <p:nvSpPr>
          <p:cNvPr id="19" name="Text 13"/>
          <p:cNvSpPr txBox="1"/>
          <p:nvPr/>
        </p:nvSpPr>
        <p:spPr>
          <a:xfrm>
            <a:off x="1298448" y="5449824"/>
            <a:ext cx="4754880" cy="292608"/>
          </a:xfrm>
          <a:prstGeom prst="rect">
            <a:avLst/>
          </a:prstGeom>
          <a:noFill/>
          <a:ln/>
        </p:spPr>
        <p:txBody>
          <a:bodyPr wrap="square" lIns="0" tIns="0" rIns="0" bIns="0" rtlCol="0" anchor="t"/>
          <a:lstStyle/>
          <a:p>
            <a:pPr marL="0" indent="0">
              <a:buNone/>
            </a:pPr>
            <a:r>
              <a:rPr lang="en-US" sz="1500" b="1" dirty="0">
                <a:solidFill>
                  <a:schemeClr val="tx1"/>
                </a:solidFill>
              </a:rPr>
              <a:t>Przewijak: brak danych</a:t>
            </a:r>
            <a:endParaRPr lang="en-US" sz="1500" dirty="0"/>
          </a:p>
        </p:txBody>
      </p:sp>
      <p:sp>
        <p:nvSpPr>
          <p:cNvPr id="20" name="Text 14"/>
          <p:cNvSpPr txBox="1"/>
          <p:nvPr/>
        </p:nvSpPr>
        <p:spPr>
          <a:xfrm>
            <a:off x="1298448" y="5742432"/>
            <a:ext cx="4754880" cy="256032"/>
          </a:xfrm>
          <a:prstGeom prst="rect">
            <a:avLst/>
          </a:prstGeom>
          <a:noFill/>
          <a:ln/>
        </p:spPr>
        <p:txBody>
          <a:bodyPr wrap="square" lIns="0" tIns="0" rIns="0" bIns="0" rtlCol="0" anchor="t"/>
          <a:lstStyle/>
          <a:p>
            <a:pPr marL="0" indent="0">
              <a:buNone/>
            </a:pPr>
            <a:r>
              <a:rPr lang="en-US" sz="1200" dirty="0">
                <a:solidFill>
                  <a:schemeClr val="accent6"/>
                </a:solidFill>
              </a:rPr>
              <a:t>nie </a:t>
            </a:r>
            <a:r>
              <a:rPr lang="en-US" sz="1200" dirty="0" err="1">
                <a:solidFill>
                  <a:schemeClr val="accent6"/>
                </a:solidFill>
              </a:rPr>
              <a:t>zgadujemy</a:t>
            </a:r>
            <a:r>
              <a:rPr lang="en-US" sz="1200" dirty="0">
                <a:solidFill>
                  <a:schemeClr val="accent6"/>
                </a:solidFill>
              </a:rPr>
              <a:t> </a:t>
            </a:r>
            <a:r>
              <a:rPr lang="pl-PL" sz="1200" dirty="0">
                <a:solidFill>
                  <a:schemeClr val="accent6"/>
                </a:solidFill>
              </a:rPr>
              <a:t>– </a:t>
            </a:r>
            <a:r>
              <a:rPr lang="en-US" sz="1200" dirty="0" err="1">
                <a:solidFill>
                  <a:schemeClr val="accent6"/>
                </a:solidFill>
              </a:rPr>
              <a:t>prosimy</a:t>
            </a:r>
            <a:r>
              <a:rPr lang="en-US" sz="1200" dirty="0">
                <a:solidFill>
                  <a:schemeClr val="accent6"/>
                </a:solidFill>
              </a:rPr>
              <a:t> o uzupełnienie</a:t>
            </a:r>
            <a:endParaRPr lang="en-US" sz="1200" dirty="0"/>
          </a:p>
        </p:txBody>
      </p:sp>
      <p:sp>
        <p:nvSpPr>
          <p:cNvPr id="21" name="Text 15"/>
          <p:cNvSpPr txBox="1"/>
          <p:nvPr/>
        </p:nvSpPr>
        <p:spPr>
          <a:xfrm>
            <a:off x="6720840" y="1280160"/>
            <a:ext cx="4937760" cy="960120"/>
          </a:xfrm>
          <a:prstGeom prst="rect">
            <a:avLst/>
          </a:prstGeom>
          <a:noFill/>
          <a:ln/>
        </p:spPr>
        <p:txBody>
          <a:bodyPr wrap="square" lIns="0" tIns="0" rIns="0" bIns="0" rtlCol="0" anchor="ctr"/>
          <a:lstStyle/>
          <a:p>
            <a:pPr marL="0" indent="0">
              <a:buNone/>
            </a:pPr>
            <a:r>
              <a:rPr lang="en-US" sz="6400" b="1" dirty="0">
                <a:solidFill>
                  <a:schemeClr val="tx2"/>
                </a:solidFill>
                <a:latin typeface="Arial" pitchFamily="34" charset="0"/>
                <a:ea typeface="Arial" pitchFamily="34" charset="-122"/>
                <a:cs typeface="Arial" pitchFamily="34" charset="-120"/>
              </a:rPr>
              <a:t>79%</a:t>
            </a:r>
            <a:endParaRPr lang="en-US" sz="6400" dirty="0">
              <a:solidFill>
                <a:schemeClr val="tx2"/>
              </a:solidFill>
            </a:endParaRPr>
          </a:p>
        </p:txBody>
      </p:sp>
      <p:sp>
        <p:nvSpPr>
          <p:cNvPr id="22" name="Text 16"/>
          <p:cNvSpPr txBox="1"/>
          <p:nvPr/>
        </p:nvSpPr>
        <p:spPr>
          <a:xfrm>
            <a:off x="6720840" y="2240280"/>
            <a:ext cx="4937760" cy="731520"/>
          </a:xfrm>
          <a:prstGeom prst="rect">
            <a:avLst/>
          </a:prstGeom>
          <a:noFill/>
          <a:ln/>
        </p:spPr>
        <p:txBody>
          <a:bodyPr wrap="square" lIns="0" tIns="0" rIns="0" bIns="0" rtlCol="0" anchor="t"/>
          <a:lstStyle/>
          <a:p>
            <a:pPr marL="0" indent="0">
              <a:buNone/>
            </a:pPr>
            <a:r>
              <a:rPr lang="en-US" sz="1600" dirty="0">
                <a:solidFill>
                  <a:schemeClr val="tx1"/>
                </a:solidFill>
              </a:rPr>
              <a:t>miejsc w centrum Krakowa nie ma w OpenStreetMap żadnej informacji o dostępności (1545 z 1951)</a:t>
            </a:r>
            <a:endParaRPr lang="en-US" sz="1600" dirty="0"/>
          </a:p>
        </p:txBody>
      </p:sp>
      <p:sp>
        <p:nvSpPr>
          <p:cNvPr id="23" name="Text 17"/>
          <p:cNvSpPr txBox="1"/>
          <p:nvPr/>
        </p:nvSpPr>
        <p:spPr>
          <a:xfrm>
            <a:off x="6720840" y="3063240"/>
            <a:ext cx="4937760" cy="960120"/>
          </a:xfrm>
          <a:prstGeom prst="rect">
            <a:avLst/>
          </a:prstGeom>
          <a:noFill/>
          <a:ln/>
        </p:spPr>
        <p:txBody>
          <a:bodyPr wrap="square" lIns="0" tIns="0" rIns="0" bIns="0" rtlCol="0" anchor="ctr"/>
          <a:lstStyle/>
          <a:p>
            <a:pPr marL="0" indent="0">
              <a:buNone/>
            </a:pPr>
            <a:r>
              <a:rPr lang="en-US" sz="6400" b="1" dirty="0">
                <a:solidFill>
                  <a:schemeClr val="tx2"/>
                </a:solidFill>
                <a:latin typeface="Arial" pitchFamily="34" charset="0"/>
                <a:ea typeface="Arial" pitchFamily="34" charset="-122"/>
                <a:cs typeface="Arial" pitchFamily="34" charset="-120"/>
              </a:rPr>
              <a:t>26%</a:t>
            </a:r>
            <a:endParaRPr lang="en-US" sz="6400" dirty="0">
              <a:solidFill>
                <a:schemeClr val="tx2"/>
              </a:solidFill>
            </a:endParaRPr>
          </a:p>
        </p:txBody>
      </p:sp>
      <p:sp>
        <p:nvSpPr>
          <p:cNvPr id="24" name="Text 18"/>
          <p:cNvSpPr txBox="1"/>
          <p:nvPr/>
        </p:nvSpPr>
        <p:spPr>
          <a:xfrm>
            <a:off x="6720840" y="4023360"/>
            <a:ext cx="4937760" cy="502920"/>
          </a:xfrm>
          <a:prstGeom prst="rect">
            <a:avLst/>
          </a:prstGeom>
          <a:noFill/>
          <a:ln/>
        </p:spPr>
        <p:txBody>
          <a:bodyPr wrap="square" lIns="0" tIns="0" rIns="0" bIns="0" rtlCol="0" anchor="t"/>
          <a:lstStyle/>
          <a:p>
            <a:pPr marL="0" indent="0">
              <a:buNone/>
            </a:pPr>
            <a:r>
              <a:rPr lang="en-US" sz="1600" dirty="0">
                <a:solidFill>
                  <a:schemeClr val="tx1"/>
                </a:solidFill>
              </a:rPr>
              <a:t>istniejących informacji ma ponad 2 lata (125 z 474)</a:t>
            </a:r>
            <a:endParaRPr lang="en-US" sz="1600" dirty="0"/>
          </a:p>
        </p:txBody>
      </p:sp>
      <p:sp>
        <p:nvSpPr>
          <p:cNvPr id="25" name="Text 19"/>
          <p:cNvSpPr txBox="1"/>
          <p:nvPr/>
        </p:nvSpPr>
        <p:spPr>
          <a:xfrm>
            <a:off x="6720840" y="4754880"/>
            <a:ext cx="4937760" cy="731520"/>
          </a:xfrm>
          <a:prstGeom prst="rect">
            <a:avLst/>
          </a:prstGeom>
          <a:noFill/>
          <a:ln/>
        </p:spPr>
        <p:txBody>
          <a:bodyPr wrap="square" lIns="0" tIns="0" rIns="0" bIns="0" rtlCol="0" anchor="t"/>
          <a:lstStyle/>
          <a:p>
            <a:pPr marL="0" indent="0">
              <a:buNone/>
            </a:pPr>
            <a:r>
              <a:rPr lang="en-US" sz="1600" b="1" dirty="0">
                <a:solidFill>
                  <a:schemeClr val="tx2"/>
                </a:solidFill>
              </a:rPr>
              <a:t>Dlatego pokazujemy fakty z datą i źródłem, a luki </a:t>
            </a:r>
            <a:r>
              <a:rPr lang="en-US" sz="1600" b="1" dirty="0" err="1">
                <a:solidFill>
                  <a:schemeClr val="tx2"/>
                </a:solidFill>
              </a:rPr>
              <a:t>nazywamy</a:t>
            </a:r>
            <a:r>
              <a:rPr lang="en-US" sz="1600" b="1" dirty="0">
                <a:solidFill>
                  <a:schemeClr val="tx2"/>
                </a:solidFill>
              </a:rPr>
              <a:t> </a:t>
            </a:r>
            <a:r>
              <a:rPr lang="en-US" sz="1600" b="1" dirty="0" err="1">
                <a:solidFill>
                  <a:schemeClr val="tx2"/>
                </a:solidFill>
              </a:rPr>
              <a:t>wprost</a:t>
            </a:r>
            <a:r>
              <a:rPr lang="pl-PL" sz="1600" b="1" dirty="0">
                <a:solidFill>
                  <a:schemeClr val="tx2"/>
                </a:solidFill>
              </a:rPr>
              <a:t>.</a:t>
            </a:r>
            <a:endParaRPr lang="en-US" sz="1600" dirty="0"/>
          </a:p>
        </p:txBody>
      </p:sp>
      <p:sp>
        <p:nvSpPr>
          <p:cNvPr id="26" name="Text 20"/>
          <p:cNvSpPr txBox="1"/>
          <p:nvPr/>
        </p:nvSpPr>
        <p:spPr>
          <a:xfrm>
            <a:off x="6720840" y="5669280"/>
            <a:ext cx="4937760" cy="457200"/>
          </a:xfrm>
          <a:prstGeom prst="rect">
            <a:avLst/>
          </a:prstGeom>
          <a:noFill/>
          <a:ln/>
        </p:spPr>
        <p:txBody>
          <a:bodyPr wrap="square" lIns="0" tIns="0" rIns="0" bIns="0" rtlCol="0" anchor="t"/>
          <a:lstStyle/>
          <a:p>
            <a:pPr marL="0" indent="0">
              <a:buNone/>
            </a:pPr>
            <a:r>
              <a:rPr lang="en-US" sz="1000" dirty="0">
                <a:solidFill>
                  <a:schemeClr val="accent6"/>
                </a:solidFill>
              </a:rPr>
              <a:t>Źródło: ekstrakt OSM (Geofabrik, 01.10.2026), Stare Miasto, Kazimierz, Podgórze, Kleparz, okolice Dworca; analiza własna.</a:t>
            </a:r>
            <a:endParaRPr lang="en-US" sz="1000" dirty="0"/>
          </a:p>
        </p:txBody>
      </p:sp>
      <p:sp>
        <p:nvSpPr>
          <p:cNvPr id="27"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Trzy kroki: potrzeby, wyszukanie, samodzielna ocena</a:t>
            </a:r>
            <a:endParaRPr lang="en-US" sz="3000" dirty="0"/>
          </a:p>
        </p:txBody>
      </p:sp>
      <p:sp>
        <p:nvSpPr>
          <p:cNvPr id="3" name="Ustaw, co jest dla Ciebie barierą – ramka"/>
          <p:cNvSpPr/>
          <p:nvPr/>
        </p:nvSpPr>
        <p:spPr>
          <a:xfrm>
            <a:off x="1461789" y="1261872"/>
            <a:ext cx="1628000" cy="3374136"/>
          </a:xfrm>
          <a:prstGeom prst="roundRect">
            <a:avLst>
              <a:gd name="adj" fmla="val 12357"/>
            </a:avLst>
          </a:prstGeom>
          <a:solidFill>
            <a:schemeClr val="tx2"/>
          </a:solidFill>
          <a:ln w="12700">
            <a:solidFill>
              <a:schemeClr val="tx2"/>
            </a:solidFill>
            <a:prstDash val="solid"/>
          </a:ln>
          <a:effectLst>
            <a:outerShdw blurRad="101600" dist="38100" dir="5400000" algn="bl" rotWithShape="0">
              <a:srgbClr val="0E2238">
                <a:alpha val="25000"/>
              </a:srgbClr>
            </a:outerShdw>
          </a:effectLst>
        </p:spPr>
        <p:txBody>
          <a:bodyPr/>
          <a:lstStyle/>
          <a:p>
            <a:endParaRPr lang="pl-PL"/>
          </a:p>
        </p:txBody>
      </p:sp>
      <p:pic>
        <p:nvPicPr>
          <p:cNvPr id="4" name="Ustaw, co jest dla Ciebie barierą" descr="Zrzut ekranu aplikacji BezProgu: Ustaw, co jest dla Ciebie barierą"/>
          <p:cNvPicPr>
            <a:picLocks noChangeAspect="1"/>
          </p:cNvPicPr>
          <p:nvPr/>
        </p:nvPicPr>
        <p:blipFill>
          <a:blip r:embed="rId3"/>
          <a:stretch>
            <a:fillRect/>
          </a:stretch>
        </p:blipFill>
        <p:spPr>
          <a:xfrm>
            <a:off x="1525797" y="1325880"/>
            <a:ext cx="1499984" cy="3246120"/>
          </a:xfrm>
          <a:prstGeom prst="rect">
            <a:avLst/>
          </a:prstGeom>
        </p:spPr>
      </p:pic>
      <p:sp>
        <p:nvSpPr>
          <p:cNvPr id="5" name="Krok 1"/>
          <p:cNvSpPr/>
          <p:nvPr/>
        </p:nvSpPr>
        <p:spPr>
          <a:xfrm>
            <a:off x="548640" y="4800600"/>
            <a:ext cx="457200" cy="457200"/>
          </a:xfrm>
          <a:prstGeom prst="ellipse">
            <a:avLst/>
          </a:prstGeom>
          <a:solidFill>
            <a:schemeClr val="accent1"/>
          </a:solidFill>
          <a:ln w="12700">
            <a:solidFill>
              <a:schemeClr val="accent1"/>
            </a:solidFill>
            <a:prstDash val="solid"/>
          </a:ln>
        </p:spPr>
        <p:txBody>
          <a:bodyPr/>
          <a:lstStyle/>
          <a:p>
            <a:endParaRPr lang="pl-PL"/>
          </a:p>
        </p:txBody>
      </p:sp>
      <p:sp>
        <p:nvSpPr>
          <p:cNvPr id="6" name="Text 3"/>
          <p:cNvSpPr txBox="1"/>
          <p:nvPr/>
        </p:nvSpPr>
        <p:spPr>
          <a:xfrm>
            <a:off x="548640" y="48006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143000" y="4782312"/>
            <a:ext cx="2859938" cy="502920"/>
          </a:xfrm>
          <a:prstGeom prst="rect">
            <a:avLst/>
          </a:prstGeom>
          <a:noFill/>
          <a:ln/>
        </p:spPr>
        <p:txBody>
          <a:bodyPr wrap="square" lIns="0" tIns="0" rIns="0" bIns="0" rtlCol="0" anchor="ctr"/>
          <a:lstStyle/>
          <a:p>
            <a:pPr marL="0" indent="0">
              <a:buNone/>
            </a:pPr>
            <a:r>
              <a:rPr lang="en-US" sz="1700" b="1" dirty="0">
                <a:solidFill>
                  <a:schemeClr val="tx2"/>
                </a:solidFill>
              </a:rPr>
              <a:t>Ustaw, co jest dla Ciebie barierą</a:t>
            </a:r>
            <a:endParaRPr lang="en-US" sz="1700" dirty="0"/>
          </a:p>
        </p:txBody>
      </p:sp>
      <p:sp>
        <p:nvSpPr>
          <p:cNvPr id="8" name="Text 5"/>
          <p:cNvSpPr txBox="1"/>
          <p:nvPr/>
        </p:nvSpPr>
        <p:spPr>
          <a:xfrm>
            <a:off x="1143000" y="5330952"/>
            <a:ext cx="2859938" cy="960120"/>
          </a:xfrm>
          <a:prstGeom prst="rect">
            <a:avLst/>
          </a:prstGeom>
          <a:noFill/>
          <a:ln/>
        </p:spPr>
        <p:txBody>
          <a:bodyPr wrap="square" lIns="0" tIns="0" rIns="0" bIns="0" rtlCol="0" anchor="t"/>
          <a:lstStyle/>
          <a:p>
            <a:pPr marL="0" indent="0">
              <a:buNone/>
            </a:pPr>
            <a:r>
              <a:rPr lang="en-US" sz="1400" dirty="0">
                <a:solidFill>
                  <a:schemeClr val="tx1"/>
                </a:solidFill>
              </a:rPr>
              <a:t>Wózek, wózek dziecięcy lub własne progi. Nie pytamy o niepełnosprawność — profil zostaje na Twoim urządzeniu.</a:t>
            </a:r>
            <a:endParaRPr lang="en-US" sz="1400" dirty="0"/>
          </a:p>
        </p:txBody>
      </p:sp>
      <p:sp>
        <p:nvSpPr>
          <p:cNvPr id="9" name="Znajdź miejsce lub trasę – ramka"/>
          <p:cNvSpPr/>
          <p:nvPr/>
        </p:nvSpPr>
        <p:spPr>
          <a:xfrm>
            <a:off x="5281847" y="1261872"/>
            <a:ext cx="1628000" cy="3374136"/>
          </a:xfrm>
          <a:prstGeom prst="roundRect">
            <a:avLst>
              <a:gd name="adj" fmla="val 12357"/>
            </a:avLst>
          </a:prstGeom>
          <a:solidFill>
            <a:schemeClr val="tx2"/>
          </a:solidFill>
          <a:ln w="12700">
            <a:solidFill>
              <a:schemeClr val="tx2"/>
            </a:solidFill>
            <a:prstDash val="solid"/>
          </a:ln>
          <a:effectLst>
            <a:outerShdw blurRad="101600" dist="38100" dir="5400000" algn="bl" rotWithShape="0">
              <a:srgbClr val="0E2238">
                <a:alpha val="25000"/>
              </a:srgbClr>
            </a:outerShdw>
          </a:effectLst>
        </p:spPr>
        <p:txBody>
          <a:bodyPr/>
          <a:lstStyle/>
          <a:p>
            <a:endParaRPr lang="pl-PL"/>
          </a:p>
        </p:txBody>
      </p:sp>
      <p:pic>
        <p:nvPicPr>
          <p:cNvPr id="10" name="Znajdź miejsce lub trasę" descr="Zrzut ekranu aplikacji BezProgu: Znajdź miejsce lub trasę"/>
          <p:cNvPicPr>
            <a:picLocks noChangeAspect="1"/>
          </p:cNvPicPr>
          <p:nvPr/>
        </p:nvPicPr>
        <p:blipFill>
          <a:blip r:embed="rId4"/>
          <a:stretch>
            <a:fillRect/>
          </a:stretch>
        </p:blipFill>
        <p:spPr>
          <a:xfrm>
            <a:off x="5345855" y="1325880"/>
            <a:ext cx="1499984" cy="3246120"/>
          </a:xfrm>
          <a:prstGeom prst="rect">
            <a:avLst/>
          </a:prstGeom>
        </p:spPr>
      </p:pic>
      <p:sp>
        <p:nvSpPr>
          <p:cNvPr id="11" name="Krok 2"/>
          <p:cNvSpPr/>
          <p:nvPr/>
        </p:nvSpPr>
        <p:spPr>
          <a:xfrm>
            <a:off x="4368698" y="4800600"/>
            <a:ext cx="457200" cy="457200"/>
          </a:xfrm>
          <a:prstGeom prst="ellipse">
            <a:avLst/>
          </a:prstGeom>
          <a:solidFill>
            <a:schemeClr val="accent1"/>
          </a:solidFill>
          <a:ln w="12700">
            <a:solidFill>
              <a:schemeClr val="accent1"/>
            </a:solidFill>
            <a:prstDash val="solid"/>
          </a:ln>
        </p:spPr>
        <p:txBody>
          <a:bodyPr/>
          <a:lstStyle/>
          <a:p>
            <a:endParaRPr lang="pl-PL"/>
          </a:p>
        </p:txBody>
      </p:sp>
      <p:sp>
        <p:nvSpPr>
          <p:cNvPr id="12" name="Text 8"/>
          <p:cNvSpPr txBox="1"/>
          <p:nvPr/>
        </p:nvSpPr>
        <p:spPr>
          <a:xfrm>
            <a:off x="4368698" y="48006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3" name="Text 9"/>
          <p:cNvSpPr txBox="1"/>
          <p:nvPr/>
        </p:nvSpPr>
        <p:spPr>
          <a:xfrm>
            <a:off x="4963058" y="4782312"/>
            <a:ext cx="2859938" cy="502920"/>
          </a:xfrm>
          <a:prstGeom prst="rect">
            <a:avLst/>
          </a:prstGeom>
          <a:noFill/>
          <a:ln/>
        </p:spPr>
        <p:txBody>
          <a:bodyPr wrap="square" lIns="0" tIns="0" rIns="0" bIns="0" rtlCol="0" anchor="ctr"/>
          <a:lstStyle/>
          <a:p>
            <a:pPr marL="0" indent="0">
              <a:buNone/>
            </a:pPr>
            <a:r>
              <a:rPr lang="en-US" sz="1700" b="1" dirty="0">
                <a:solidFill>
                  <a:schemeClr val="tx2"/>
                </a:solidFill>
              </a:rPr>
              <a:t>Znajdź miejsce lub trasę</a:t>
            </a:r>
            <a:endParaRPr lang="en-US" sz="1700" dirty="0"/>
          </a:p>
        </p:txBody>
      </p:sp>
      <p:sp>
        <p:nvSpPr>
          <p:cNvPr id="14" name="Text 10"/>
          <p:cNvSpPr txBox="1"/>
          <p:nvPr/>
        </p:nvSpPr>
        <p:spPr>
          <a:xfrm>
            <a:off x="4963058" y="5330952"/>
            <a:ext cx="2859938" cy="960120"/>
          </a:xfrm>
          <a:prstGeom prst="rect">
            <a:avLst/>
          </a:prstGeom>
          <a:noFill/>
          <a:ln/>
        </p:spPr>
        <p:txBody>
          <a:bodyPr wrap="square" lIns="0" tIns="0" rIns="0" bIns="0" rtlCol="0" anchor="t"/>
          <a:lstStyle/>
          <a:p>
            <a:pPr marL="0" indent="0">
              <a:buNone/>
            </a:pPr>
            <a:r>
              <a:rPr lang="en-US" sz="1400" dirty="0">
                <a:solidFill>
                  <a:schemeClr val="tx1"/>
                </a:solidFill>
              </a:rPr>
              <a:t>Najpierw lista tekstowa, mapa na życzenie. Każdy wynik: ile parametrów pasuje, ile barier, czego nie wiemy.</a:t>
            </a:r>
            <a:endParaRPr lang="en-US" sz="1400" dirty="0"/>
          </a:p>
        </p:txBody>
      </p:sp>
      <p:sp>
        <p:nvSpPr>
          <p:cNvPr id="15" name="Oceń sam, bez werdyktu – ramka"/>
          <p:cNvSpPr/>
          <p:nvPr/>
        </p:nvSpPr>
        <p:spPr>
          <a:xfrm>
            <a:off x="9101906" y="1261872"/>
            <a:ext cx="1628000" cy="3374136"/>
          </a:xfrm>
          <a:prstGeom prst="roundRect">
            <a:avLst>
              <a:gd name="adj" fmla="val 12357"/>
            </a:avLst>
          </a:prstGeom>
          <a:solidFill>
            <a:schemeClr val="tx2"/>
          </a:solidFill>
          <a:ln w="12700">
            <a:solidFill>
              <a:schemeClr val="tx2"/>
            </a:solidFill>
            <a:prstDash val="solid"/>
          </a:ln>
          <a:effectLst>
            <a:outerShdw blurRad="101600" dist="38100" dir="5400000" algn="bl" rotWithShape="0">
              <a:srgbClr val="0E2238">
                <a:alpha val="25000"/>
              </a:srgbClr>
            </a:outerShdw>
          </a:effectLst>
        </p:spPr>
        <p:txBody>
          <a:bodyPr/>
          <a:lstStyle/>
          <a:p>
            <a:endParaRPr lang="pl-PL"/>
          </a:p>
        </p:txBody>
      </p:sp>
      <p:pic>
        <p:nvPicPr>
          <p:cNvPr id="16" name="Oceń sam, bez werdyktu" descr="Zrzut ekranu aplikacji BezProgu: Oceń sam, bez werdyktu"/>
          <p:cNvPicPr>
            <a:picLocks noChangeAspect="1"/>
          </p:cNvPicPr>
          <p:nvPr/>
        </p:nvPicPr>
        <p:blipFill>
          <a:blip r:embed="rId5"/>
          <a:stretch>
            <a:fillRect/>
          </a:stretch>
        </p:blipFill>
        <p:spPr>
          <a:xfrm>
            <a:off x="9165914" y="1325880"/>
            <a:ext cx="1499984" cy="3246120"/>
          </a:xfrm>
          <a:prstGeom prst="rect">
            <a:avLst/>
          </a:prstGeom>
        </p:spPr>
      </p:pic>
      <p:sp>
        <p:nvSpPr>
          <p:cNvPr id="17" name="Krok 3"/>
          <p:cNvSpPr/>
          <p:nvPr/>
        </p:nvSpPr>
        <p:spPr>
          <a:xfrm>
            <a:off x="8188757" y="4800600"/>
            <a:ext cx="457200" cy="457200"/>
          </a:xfrm>
          <a:prstGeom prst="ellipse">
            <a:avLst/>
          </a:prstGeom>
          <a:solidFill>
            <a:schemeClr val="accent1"/>
          </a:solidFill>
          <a:ln w="12700">
            <a:solidFill>
              <a:schemeClr val="accent1"/>
            </a:solidFill>
            <a:prstDash val="solid"/>
          </a:ln>
        </p:spPr>
        <p:txBody>
          <a:bodyPr/>
          <a:lstStyle/>
          <a:p>
            <a:endParaRPr lang="pl-PL"/>
          </a:p>
        </p:txBody>
      </p:sp>
      <p:sp>
        <p:nvSpPr>
          <p:cNvPr id="18" name="Text 13"/>
          <p:cNvSpPr txBox="1"/>
          <p:nvPr/>
        </p:nvSpPr>
        <p:spPr>
          <a:xfrm>
            <a:off x="8188757" y="480060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9" name="Text 14"/>
          <p:cNvSpPr txBox="1"/>
          <p:nvPr/>
        </p:nvSpPr>
        <p:spPr>
          <a:xfrm>
            <a:off x="8783117" y="4782312"/>
            <a:ext cx="2859938" cy="502920"/>
          </a:xfrm>
          <a:prstGeom prst="rect">
            <a:avLst/>
          </a:prstGeom>
          <a:noFill/>
          <a:ln/>
        </p:spPr>
        <p:txBody>
          <a:bodyPr wrap="square" lIns="0" tIns="0" rIns="0" bIns="0" rtlCol="0" anchor="ctr"/>
          <a:lstStyle/>
          <a:p>
            <a:pPr marL="0" indent="0">
              <a:buNone/>
            </a:pPr>
            <a:r>
              <a:rPr lang="en-US" sz="1700" b="1" dirty="0" err="1">
                <a:solidFill>
                  <a:schemeClr val="tx2"/>
                </a:solidFill>
              </a:rPr>
              <a:t>Oceń</a:t>
            </a:r>
            <a:r>
              <a:rPr lang="en-US" sz="1700" b="1" dirty="0">
                <a:solidFill>
                  <a:schemeClr val="tx2"/>
                </a:solidFill>
              </a:rPr>
              <a:t> </a:t>
            </a:r>
            <a:r>
              <a:rPr lang="en-US" sz="1700" b="1" dirty="0" err="1">
                <a:solidFill>
                  <a:schemeClr val="tx2"/>
                </a:solidFill>
              </a:rPr>
              <a:t>sam</a:t>
            </a:r>
            <a:r>
              <a:rPr lang="pl-PL" sz="1700" b="1" dirty="0">
                <a:solidFill>
                  <a:schemeClr val="tx2"/>
                </a:solidFill>
              </a:rPr>
              <a:t> – pomóż innym</a:t>
            </a:r>
            <a:endParaRPr lang="en-US" sz="1700" dirty="0"/>
          </a:p>
        </p:txBody>
      </p:sp>
      <p:sp>
        <p:nvSpPr>
          <p:cNvPr id="20" name="Text 15"/>
          <p:cNvSpPr txBox="1"/>
          <p:nvPr/>
        </p:nvSpPr>
        <p:spPr>
          <a:xfrm>
            <a:off x="8783117" y="5330952"/>
            <a:ext cx="2859938" cy="960120"/>
          </a:xfrm>
          <a:prstGeom prst="rect">
            <a:avLst/>
          </a:prstGeom>
          <a:noFill/>
          <a:ln/>
        </p:spPr>
        <p:txBody>
          <a:bodyPr wrap="square" lIns="0" tIns="0" rIns="0" bIns="0" rtlCol="0" anchor="t"/>
          <a:lstStyle/>
          <a:p>
            <a:pPr marL="0" indent="0">
              <a:buNone/>
            </a:pPr>
            <a:r>
              <a:rPr lang="en-US" sz="1400" dirty="0">
                <a:solidFill>
                  <a:schemeClr val="tx1"/>
                </a:solidFill>
              </a:rPr>
              <a:t>Każdy parametr ze źródłem, datą i statusem wiarygodności. Nigdy werdykt „dostępne”.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Karta miejsca: fakty, ich źródło i luki w danych</a:t>
            </a:r>
            <a:endParaRPr lang="en-US" sz="3000" dirty="0"/>
          </a:p>
        </p:txBody>
      </p:sp>
      <p:sp>
        <p:nvSpPr>
          <p:cNvPr id="3" name="Karta miejsca — podsumowanie – ramka"/>
          <p:cNvSpPr/>
          <p:nvPr/>
        </p:nvSpPr>
        <p:spPr>
          <a:xfrm>
            <a:off x="548640" y="1261872"/>
            <a:ext cx="2388556" cy="5020056"/>
          </a:xfrm>
          <a:prstGeom prst="roundRect">
            <a:avLst>
              <a:gd name="adj" fmla="val 8422"/>
            </a:avLst>
          </a:prstGeom>
          <a:solidFill>
            <a:schemeClr val="tx2"/>
          </a:solidFill>
          <a:ln w="12700">
            <a:solidFill>
              <a:schemeClr val="tx2"/>
            </a:solidFill>
            <a:prstDash val="solid"/>
          </a:ln>
          <a:effectLst>
            <a:outerShdw blurRad="101600" dist="38100" dir="5400000" algn="bl" rotWithShape="0">
              <a:srgbClr val="0E2238">
                <a:alpha val="25000"/>
              </a:srgbClr>
            </a:outerShdw>
          </a:effectLst>
        </p:spPr>
        <p:txBody>
          <a:bodyPr/>
          <a:lstStyle/>
          <a:p>
            <a:endParaRPr lang="pl-PL"/>
          </a:p>
        </p:txBody>
      </p:sp>
      <p:pic>
        <p:nvPicPr>
          <p:cNvPr id="4" name="Karta miejsca — podsumowanie" descr="Zrzut ekranu aplikacji BezProgu: Karta miejsca — podsumowanie"/>
          <p:cNvPicPr>
            <a:picLocks noChangeAspect="1"/>
          </p:cNvPicPr>
          <p:nvPr/>
        </p:nvPicPr>
        <p:blipFill>
          <a:blip r:embed="rId3"/>
          <a:stretch>
            <a:fillRect/>
          </a:stretch>
        </p:blipFill>
        <p:spPr>
          <a:xfrm>
            <a:off x="612648" y="1325880"/>
            <a:ext cx="2260540" cy="4892040"/>
          </a:xfrm>
          <a:prstGeom prst="rect">
            <a:avLst/>
          </a:prstGeom>
        </p:spPr>
      </p:pic>
      <p:sp>
        <p:nvSpPr>
          <p:cNvPr id="5" name="Karta miejsca — dane sprzeczne – ramka"/>
          <p:cNvSpPr/>
          <p:nvPr/>
        </p:nvSpPr>
        <p:spPr>
          <a:xfrm>
            <a:off x="2999232" y="1261872"/>
            <a:ext cx="2388556" cy="5020056"/>
          </a:xfrm>
          <a:prstGeom prst="roundRect">
            <a:avLst>
              <a:gd name="adj" fmla="val 8422"/>
            </a:avLst>
          </a:prstGeom>
          <a:solidFill>
            <a:schemeClr val="tx2"/>
          </a:solidFill>
          <a:ln w="12700">
            <a:solidFill>
              <a:schemeClr val="tx2"/>
            </a:solidFill>
            <a:prstDash val="solid"/>
          </a:ln>
          <a:effectLst>
            <a:outerShdw blurRad="101600" dist="38100" dir="5400000" algn="bl" rotWithShape="0">
              <a:srgbClr val="0E2238">
                <a:alpha val="25000"/>
              </a:srgbClr>
            </a:outerShdw>
          </a:effectLst>
        </p:spPr>
        <p:txBody>
          <a:bodyPr/>
          <a:lstStyle/>
          <a:p>
            <a:endParaRPr lang="pl-PL"/>
          </a:p>
        </p:txBody>
      </p:sp>
      <p:pic>
        <p:nvPicPr>
          <p:cNvPr id="6" name="Karta miejsca — dane sprzeczne" descr="Zrzut ekranu aplikacji BezProgu: Karta miejsca — dane sprzeczne"/>
          <p:cNvPicPr>
            <a:picLocks noChangeAspect="1"/>
          </p:cNvPicPr>
          <p:nvPr/>
        </p:nvPicPr>
        <p:blipFill>
          <a:blip r:embed="rId4"/>
          <a:stretch>
            <a:fillRect/>
          </a:stretch>
        </p:blipFill>
        <p:spPr>
          <a:xfrm>
            <a:off x="3063240" y="1325880"/>
            <a:ext cx="2260540" cy="4892040"/>
          </a:xfrm>
          <a:prstGeom prst="rect">
            <a:avLst/>
          </a:prstGeom>
        </p:spPr>
      </p:pic>
      <p:pic>
        <p:nvPicPr>
          <p:cNvPr id="7" name="Bariera dla Twojego profilu" descr="Bariera dla Twojego profilu"/>
          <p:cNvPicPr>
            <a:picLocks noChangeAspect="1"/>
          </p:cNvPicPr>
          <p:nvPr/>
        </p:nvPicPr>
        <p:blipFill>
          <a:blip r:embed="rId5"/>
          <a:stretch>
            <a:fillRect/>
          </a:stretch>
        </p:blipFill>
        <p:spPr>
          <a:xfrm>
            <a:off x="5989320" y="1362456"/>
            <a:ext cx="384048" cy="384048"/>
          </a:xfrm>
          <a:prstGeom prst="rect">
            <a:avLst/>
          </a:prstGeom>
        </p:spPr>
      </p:pic>
      <p:sp>
        <p:nvSpPr>
          <p:cNvPr id="8" name="Text 3"/>
          <p:cNvSpPr txBox="1"/>
          <p:nvPr/>
        </p:nvSpPr>
        <p:spPr>
          <a:xfrm>
            <a:off x="6537960" y="1325880"/>
            <a:ext cx="5120640" cy="329184"/>
          </a:xfrm>
          <a:prstGeom prst="rect">
            <a:avLst/>
          </a:prstGeom>
          <a:noFill/>
          <a:ln/>
        </p:spPr>
        <p:txBody>
          <a:bodyPr wrap="square" lIns="0" tIns="0" rIns="0" bIns="0" rtlCol="0" anchor="t"/>
          <a:lstStyle/>
          <a:p>
            <a:pPr marL="0" indent="0">
              <a:buNone/>
            </a:pPr>
            <a:r>
              <a:rPr lang="en-US" sz="1700" b="1" dirty="0">
                <a:solidFill>
                  <a:schemeClr val="tx2"/>
                </a:solidFill>
              </a:rPr>
              <a:t>Bariera dla Twojego profilu</a:t>
            </a:r>
            <a:endParaRPr lang="en-US" sz="1700" dirty="0"/>
          </a:p>
        </p:txBody>
      </p:sp>
      <p:sp>
        <p:nvSpPr>
          <p:cNvPr id="9" name="Text 4"/>
          <p:cNvSpPr txBox="1"/>
          <p:nvPr/>
        </p:nvSpPr>
        <p:spPr>
          <a:xfrm>
            <a:off x="6537960" y="1673352"/>
            <a:ext cx="5120640" cy="566928"/>
          </a:xfrm>
          <a:prstGeom prst="rect">
            <a:avLst/>
          </a:prstGeom>
          <a:noFill/>
          <a:ln/>
        </p:spPr>
        <p:txBody>
          <a:bodyPr wrap="square" lIns="0" tIns="0" rIns="0" bIns="0" rtlCol="0" anchor="t"/>
          <a:lstStyle/>
          <a:p>
            <a:pPr marL="0" indent="0">
              <a:buNone/>
            </a:pPr>
            <a:r>
              <a:rPr lang="en-US" sz="1400" dirty="0">
                <a:solidFill>
                  <a:schemeClr val="tx1"/>
                </a:solidFill>
              </a:rPr>
              <a:t>3 stopnie przy wejściu głównym (Twoje maksimum: 0), potwierdzone przez właściciela.</a:t>
            </a:r>
            <a:endParaRPr lang="en-US" sz="1400" dirty="0"/>
          </a:p>
        </p:txBody>
      </p:sp>
      <p:pic>
        <p:nvPicPr>
          <p:cNvPr id="10" name="Najważniejsza uwaga na samej górze" descr="Najważniejsza uwaga na samej górze"/>
          <p:cNvPicPr>
            <a:picLocks noChangeAspect="1"/>
          </p:cNvPicPr>
          <p:nvPr/>
        </p:nvPicPr>
        <p:blipFill>
          <a:blip r:embed="rId6"/>
          <a:stretch>
            <a:fillRect/>
          </a:stretch>
        </p:blipFill>
        <p:spPr>
          <a:xfrm>
            <a:off x="5989320" y="2340864"/>
            <a:ext cx="384048" cy="384048"/>
          </a:xfrm>
          <a:prstGeom prst="rect">
            <a:avLst/>
          </a:prstGeom>
        </p:spPr>
      </p:pic>
      <p:sp>
        <p:nvSpPr>
          <p:cNvPr id="11" name="Text 5"/>
          <p:cNvSpPr txBox="1"/>
          <p:nvPr/>
        </p:nvSpPr>
        <p:spPr>
          <a:xfrm>
            <a:off x="6537960" y="2304288"/>
            <a:ext cx="5120640" cy="329184"/>
          </a:xfrm>
          <a:prstGeom prst="rect">
            <a:avLst/>
          </a:prstGeom>
          <a:noFill/>
          <a:ln/>
        </p:spPr>
        <p:txBody>
          <a:bodyPr wrap="square" lIns="0" tIns="0" rIns="0" bIns="0" rtlCol="0" anchor="t"/>
          <a:lstStyle/>
          <a:p>
            <a:pPr marL="0" indent="0">
              <a:buNone/>
            </a:pPr>
            <a:r>
              <a:rPr lang="en-US" sz="1700" b="1" dirty="0">
                <a:solidFill>
                  <a:schemeClr val="tx2"/>
                </a:solidFill>
              </a:rPr>
              <a:t>Najważniejsza uwaga na samej górze</a:t>
            </a:r>
            <a:endParaRPr lang="en-US" sz="1700" dirty="0"/>
          </a:p>
        </p:txBody>
      </p:sp>
      <p:sp>
        <p:nvSpPr>
          <p:cNvPr id="12" name="Text 6"/>
          <p:cNvSpPr txBox="1"/>
          <p:nvPr/>
        </p:nvSpPr>
        <p:spPr>
          <a:xfrm>
            <a:off x="6537960" y="2651760"/>
            <a:ext cx="5120640" cy="566928"/>
          </a:xfrm>
          <a:prstGeom prst="rect">
            <a:avLst/>
          </a:prstGeom>
          <a:noFill/>
          <a:ln/>
        </p:spPr>
        <p:txBody>
          <a:bodyPr wrap="square" lIns="0" tIns="0" rIns="0" bIns="0" rtlCol="0" anchor="t"/>
          <a:lstStyle/>
          <a:p>
            <a:pPr marL="0" indent="0">
              <a:buNone/>
            </a:pPr>
            <a:r>
              <a:rPr lang="en-US" sz="1400" dirty="0">
                <a:solidFill>
                  <a:schemeClr val="tx1"/>
                </a:solidFill>
              </a:rPr>
              <a:t>Wejście od ul. Szewskiej z windą — informacja, która decyduje o wizycie.</a:t>
            </a:r>
            <a:endParaRPr lang="en-US" sz="1400" dirty="0"/>
          </a:p>
        </p:txBody>
      </p:sp>
      <p:pic>
        <p:nvPicPr>
          <p:cNvPr id="13" name="Dane sprzeczne: pokazujemy obie wersje" descr="Dane sprzeczne: pokazujemy obie wersje"/>
          <p:cNvPicPr>
            <a:picLocks noChangeAspect="1"/>
          </p:cNvPicPr>
          <p:nvPr/>
        </p:nvPicPr>
        <p:blipFill>
          <a:blip r:embed="rId7"/>
          <a:stretch>
            <a:fillRect/>
          </a:stretch>
        </p:blipFill>
        <p:spPr>
          <a:xfrm>
            <a:off x="5989320" y="3319272"/>
            <a:ext cx="384048" cy="384048"/>
          </a:xfrm>
          <a:prstGeom prst="rect">
            <a:avLst/>
          </a:prstGeom>
        </p:spPr>
      </p:pic>
      <p:sp>
        <p:nvSpPr>
          <p:cNvPr id="14" name="Text 7"/>
          <p:cNvSpPr txBox="1"/>
          <p:nvPr/>
        </p:nvSpPr>
        <p:spPr>
          <a:xfrm>
            <a:off x="6537960" y="3282696"/>
            <a:ext cx="5120640" cy="329184"/>
          </a:xfrm>
          <a:prstGeom prst="rect">
            <a:avLst/>
          </a:prstGeom>
          <a:noFill/>
          <a:ln/>
        </p:spPr>
        <p:txBody>
          <a:bodyPr wrap="square" lIns="0" tIns="0" rIns="0" bIns="0" rtlCol="0" anchor="t"/>
          <a:lstStyle/>
          <a:p>
            <a:pPr marL="0" indent="0">
              <a:buNone/>
            </a:pPr>
            <a:r>
              <a:rPr lang="en-US" sz="1700" b="1" dirty="0">
                <a:solidFill>
                  <a:schemeClr val="tx2"/>
                </a:solidFill>
              </a:rPr>
              <a:t>Dane sprzeczne: pokazujemy obie wersje</a:t>
            </a:r>
            <a:endParaRPr lang="en-US" sz="1700" dirty="0"/>
          </a:p>
        </p:txBody>
      </p:sp>
      <p:sp>
        <p:nvSpPr>
          <p:cNvPr id="15" name="Text 8"/>
          <p:cNvSpPr txBox="1"/>
          <p:nvPr/>
        </p:nvSpPr>
        <p:spPr>
          <a:xfrm>
            <a:off x="6537960" y="3630168"/>
            <a:ext cx="5120640" cy="566928"/>
          </a:xfrm>
          <a:prstGeom prst="rect">
            <a:avLst/>
          </a:prstGeom>
          <a:noFill/>
          <a:ln/>
        </p:spPr>
        <p:txBody>
          <a:bodyPr wrap="square" lIns="0" tIns="0" rIns="0" bIns="0" rtlCol="0" anchor="t"/>
          <a:lstStyle/>
          <a:p>
            <a:pPr marL="0" indent="0">
              <a:buNone/>
            </a:pPr>
            <a:r>
              <a:rPr lang="en-US" sz="1400" dirty="0">
                <a:solidFill>
                  <a:schemeClr val="tx1"/>
                </a:solidFill>
              </a:rPr>
              <a:t>OSM: próg 2 cm, zgłoszenie: 5 cm. Do </a:t>
            </a:r>
            <a:r>
              <a:rPr lang="pl-PL" sz="1400" dirty="0">
                <a:solidFill>
                  <a:schemeClr val="tx1"/>
                </a:solidFill>
              </a:rPr>
              <a:t>momentu </a:t>
            </a:r>
            <a:r>
              <a:rPr lang="en-US" sz="1400" dirty="0" err="1">
                <a:solidFill>
                  <a:schemeClr val="tx1"/>
                </a:solidFill>
              </a:rPr>
              <a:t>wyjaśnienia</a:t>
            </a:r>
            <a:r>
              <a:rPr lang="en-US" sz="1400" dirty="0">
                <a:solidFill>
                  <a:schemeClr val="tx1"/>
                </a:solidFill>
              </a:rPr>
              <a:t> liczymy to jako barierę; odwiedzający może potwierdzić wersję.</a:t>
            </a:r>
            <a:endParaRPr lang="en-US" sz="1400" dirty="0"/>
          </a:p>
        </p:txBody>
      </p:sp>
      <p:pic>
        <p:nvPicPr>
          <p:cNvPr id="16" name="Stare dane są oznaczone" descr="Stare dane są oznaczone"/>
          <p:cNvPicPr>
            <a:picLocks noChangeAspect="1"/>
          </p:cNvPicPr>
          <p:nvPr/>
        </p:nvPicPr>
        <p:blipFill>
          <a:blip r:embed="rId8"/>
          <a:stretch>
            <a:fillRect/>
          </a:stretch>
        </p:blipFill>
        <p:spPr>
          <a:xfrm>
            <a:off x="5989320" y="4297680"/>
            <a:ext cx="384048" cy="384048"/>
          </a:xfrm>
          <a:prstGeom prst="rect">
            <a:avLst/>
          </a:prstGeom>
        </p:spPr>
      </p:pic>
      <p:sp>
        <p:nvSpPr>
          <p:cNvPr id="17" name="Text 9"/>
          <p:cNvSpPr txBox="1"/>
          <p:nvPr/>
        </p:nvSpPr>
        <p:spPr>
          <a:xfrm>
            <a:off x="6537960" y="4261104"/>
            <a:ext cx="5120640" cy="329184"/>
          </a:xfrm>
          <a:prstGeom prst="rect">
            <a:avLst/>
          </a:prstGeom>
          <a:noFill/>
          <a:ln/>
        </p:spPr>
        <p:txBody>
          <a:bodyPr wrap="square" lIns="0" tIns="0" rIns="0" bIns="0" rtlCol="0" anchor="t"/>
          <a:lstStyle/>
          <a:p>
            <a:pPr marL="0" indent="0">
              <a:buNone/>
            </a:pPr>
            <a:r>
              <a:rPr lang="en-US" sz="1700" b="1" dirty="0">
                <a:solidFill>
                  <a:schemeClr val="tx2"/>
                </a:solidFill>
              </a:rPr>
              <a:t>Stare dane są oznaczone</a:t>
            </a:r>
            <a:endParaRPr lang="en-US" sz="1700" dirty="0"/>
          </a:p>
        </p:txBody>
      </p:sp>
      <p:sp>
        <p:nvSpPr>
          <p:cNvPr id="18" name="Text 10"/>
          <p:cNvSpPr txBox="1"/>
          <p:nvPr/>
        </p:nvSpPr>
        <p:spPr>
          <a:xfrm>
            <a:off x="6537960" y="4608576"/>
            <a:ext cx="5120640" cy="566928"/>
          </a:xfrm>
          <a:prstGeom prst="rect">
            <a:avLst/>
          </a:prstGeom>
          <a:noFill/>
          <a:ln/>
        </p:spPr>
        <p:txBody>
          <a:bodyPr wrap="square" lIns="0" tIns="0" rIns="0" bIns="0" rtlCol="0" anchor="t"/>
          <a:lstStyle/>
          <a:p>
            <a:pPr marL="0" indent="0">
              <a:buNone/>
            </a:pPr>
            <a:r>
              <a:rPr lang="en-US" sz="1400" dirty="0">
                <a:solidFill>
                  <a:schemeClr val="tx1"/>
                </a:solidFill>
              </a:rPr>
              <a:t>Potwierdzenie sprzed ponad 2 lat → „Może być nieaktualne” i „Zadzwoń przed wizytą”.</a:t>
            </a:r>
            <a:endParaRPr lang="en-US" sz="1400" dirty="0"/>
          </a:p>
        </p:txBody>
      </p:sp>
      <p:pic>
        <p:nvPicPr>
          <p:cNvPr id="19" name="Brak danych to nie „dostępne”" descr="Brak danych to nie „dostępne”"/>
          <p:cNvPicPr>
            <a:picLocks noChangeAspect="1"/>
          </p:cNvPicPr>
          <p:nvPr/>
        </p:nvPicPr>
        <p:blipFill>
          <a:blip r:embed="rId9"/>
          <a:stretch>
            <a:fillRect/>
          </a:stretch>
        </p:blipFill>
        <p:spPr>
          <a:xfrm>
            <a:off x="5989320" y="5276088"/>
            <a:ext cx="384048" cy="384048"/>
          </a:xfrm>
          <a:prstGeom prst="rect">
            <a:avLst/>
          </a:prstGeom>
        </p:spPr>
      </p:pic>
      <p:sp>
        <p:nvSpPr>
          <p:cNvPr id="20" name="Text 11"/>
          <p:cNvSpPr txBox="1"/>
          <p:nvPr/>
        </p:nvSpPr>
        <p:spPr>
          <a:xfrm>
            <a:off x="6537960" y="5239512"/>
            <a:ext cx="5120640" cy="329184"/>
          </a:xfrm>
          <a:prstGeom prst="rect">
            <a:avLst/>
          </a:prstGeom>
          <a:noFill/>
          <a:ln/>
        </p:spPr>
        <p:txBody>
          <a:bodyPr wrap="square" lIns="0" tIns="0" rIns="0" bIns="0" rtlCol="0" anchor="t"/>
          <a:lstStyle/>
          <a:p>
            <a:pPr marL="0" indent="0">
              <a:buNone/>
            </a:pPr>
            <a:r>
              <a:rPr lang="en-US" sz="1700" b="1" dirty="0">
                <a:solidFill>
                  <a:schemeClr val="tx2"/>
                </a:solidFill>
              </a:rPr>
              <a:t>Brak danych to nie „dostępne”</a:t>
            </a:r>
            <a:endParaRPr lang="en-US" sz="1700" dirty="0"/>
          </a:p>
        </p:txBody>
      </p:sp>
      <p:sp>
        <p:nvSpPr>
          <p:cNvPr id="21" name="Text 12"/>
          <p:cNvSpPr txBox="1"/>
          <p:nvPr/>
        </p:nvSpPr>
        <p:spPr>
          <a:xfrm>
            <a:off x="6537960" y="5586984"/>
            <a:ext cx="5120640" cy="566928"/>
          </a:xfrm>
          <a:prstGeom prst="rect">
            <a:avLst/>
          </a:prstGeom>
          <a:noFill/>
          <a:ln/>
        </p:spPr>
        <p:txBody>
          <a:bodyPr wrap="square" lIns="0" tIns="0" rIns="0" bIns="0" rtlCol="0" anchor="t"/>
          <a:lstStyle/>
          <a:p>
            <a:pPr marL="0" indent="0">
              <a:buNone/>
            </a:pPr>
            <a:r>
              <a:rPr lang="en-US" sz="1400" dirty="0">
                <a:solidFill>
                  <a:schemeClr val="tx1"/>
                </a:solidFill>
              </a:rPr>
              <a:t>Brakujący parametr ma własny status i link „Pomóż uzupełnić”.</a:t>
            </a:r>
            <a:endParaRPr lang="en-US" sz="1400" dirty="0"/>
          </a:p>
        </p:txBody>
      </p:sp>
      <p:sp>
        <p:nvSpPr>
          <p:cNvPr id="22" name="Status: Dane przykładowe zawsze oznaczone"/>
          <p:cNvSpPr/>
          <p:nvPr/>
        </p:nvSpPr>
        <p:spPr>
          <a:xfrm>
            <a:off x="6537960" y="5897880"/>
            <a:ext cx="3566160" cy="347472"/>
          </a:xfrm>
          <a:prstGeom prst="roundRect">
            <a:avLst>
              <a:gd name="adj" fmla="val 50000"/>
            </a:avLst>
          </a:prstGeom>
          <a:solidFill>
            <a:schemeClr val="accent5">
              <a:alpha val="12000"/>
            </a:schemeClr>
          </a:solidFill>
          <a:ln w="12700">
            <a:solidFill>
              <a:schemeClr val="accent5"/>
            </a:solidFill>
            <a:prstDash val="solid"/>
          </a:ln>
        </p:spPr>
        <p:txBody>
          <a:bodyPr/>
          <a:lstStyle/>
          <a:p>
            <a:endParaRPr lang="pl-PL"/>
          </a:p>
        </p:txBody>
      </p:sp>
      <p:pic>
        <p:nvPicPr>
          <p:cNvPr id="23" name="Ikona: Dane przykładowe zawsze oznaczone" descr="Ikona: Dane przykładowe zawsze oznaczone"/>
          <p:cNvPicPr>
            <a:picLocks noChangeAspect="1"/>
          </p:cNvPicPr>
          <p:nvPr/>
        </p:nvPicPr>
        <p:blipFill>
          <a:blip r:embed="rId10"/>
          <a:stretch>
            <a:fillRect/>
          </a:stretch>
        </p:blipFill>
        <p:spPr>
          <a:xfrm>
            <a:off x="6647688" y="5970849"/>
            <a:ext cx="201534" cy="201534"/>
          </a:xfrm>
          <a:prstGeom prst="rect">
            <a:avLst/>
          </a:prstGeom>
        </p:spPr>
      </p:pic>
      <p:sp>
        <p:nvSpPr>
          <p:cNvPr id="24" name="Text 14"/>
          <p:cNvSpPr txBox="1"/>
          <p:nvPr/>
        </p:nvSpPr>
        <p:spPr>
          <a:xfrm>
            <a:off x="6922374" y="5897880"/>
            <a:ext cx="3090306" cy="347472"/>
          </a:xfrm>
          <a:prstGeom prst="rect">
            <a:avLst/>
          </a:prstGeom>
          <a:noFill/>
          <a:ln/>
        </p:spPr>
        <p:txBody>
          <a:bodyPr wrap="square" lIns="0" tIns="0" rIns="0" bIns="0" rtlCol="0" anchor="ctr"/>
          <a:lstStyle/>
          <a:p>
            <a:pPr marL="0" indent="0">
              <a:buNone/>
            </a:pPr>
            <a:r>
              <a:rPr lang="en-US" sz="1300" b="1" dirty="0">
                <a:solidFill>
                  <a:schemeClr val="accent5"/>
                </a:solidFill>
              </a:rPr>
              <a:t>Dane przykładowe zawsze oznaczone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Trasa krok po kroku i poprawki danych w minutę</a:t>
            </a:r>
            <a:endParaRPr lang="en-US" sz="3000" dirty="0"/>
          </a:p>
        </p:txBody>
      </p:sp>
      <p:sp>
        <p:nvSpPr>
          <p:cNvPr id="3" name="Trasa — podsumowanie – ramka"/>
          <p:cNvSpPr/>
          <p:nvPr/>
        </p:nvSpPr>
        <p:spPr>
          <a:xfrm>
            <a:off x="548640" y="1261872"/>
            <a:ext cx="2388556" cy="5020056"/>
          </a:xfrm>
          <a:prstGeom prst="roundRect">
            <a:avLst>
              <a:gd name="adj" fmla="val 8422"/>
            </a:avLst>
          </a:prstGeom>
          <a:solidFill>
            <a:schemeClr val="tx2"/>
          </a:solidFill>
          <a:ln w="12700">
            <a:solidFill>
              <a:schemeClr val="tx2"/>
            </a:solidFill>
            <a:prstDash val="solid"/>
          </a:ln>
          <a:effectLst>
            <a:outerShdw blurRad="101600" dist="38100" dir="5400000" algn="bl" rotWithShape="0">
              <a:srgbClr val="0E2238">
                <a:alpha val="25000"/>
              </a:srgbClr>
            </a:outerShdw>
          </a:effectLst>
        </p:spPr>
        <p:txBody>
          <a:bodyPr/>
          <a:lstStyle/>
          <a:p>
            <a:endParaRPr lang="pl-PL"/>
          </a:p>
        </p:txBody>
      </p:sp>
      <p:pic>
        <p:nvPicPr>
          <p:cNvPr id="4" name="Trasa — podsumowanie" descr="Zrzut ekranu aplikacji BezProgu: Trasa — podsumowanie"/>
          <p:cNvPicPr>
            <a:picLocks noChangeAspect="1"/>
          </p:cNvPicPr>
          <p:nvPr/>
        </p:nvPicPr>
        <p:blipFill>
          <a:blip r:embed="rId3"/>
          <a:stretch>
            <a:fillRect/>
          </a:stretch>
        </p:blipFill>
        <p:spPr>
          <a:xfrm>
            <a:off x="612648" y="1325880"/>
            <a:ext cx="2260540" cy="4892040"/>
          </a:xfrm>
          <a:prstGeom prst="rect">
            <a:avLst/>
          </a:prstGeom>
        </p:spPr>
      </p:pic>
      <p:sp>
        <p:nvSpPr>
          <p:cNvPr id="5" name="Trasa — kroki z barierami – ramka"/>
          <p:cNvSpPr/>
          <p:nvPr/>
        </p:nvSpPr>
        <p:spPr>
          <a:xfrm>
            <a:off x="2999232" y="1261872"/>
            <a:ext cx="2388556" cy="5020056"/>
          </a:xfrm>
          <a:prstGeom prst="roundRect">
            <a:avLst>
              <a:gd name="adj" fmla="val 8422"/>
            </a:avLst>
          </a:prstGeom>
          <a:solidFill>
            <a:schemeClr val="tx2"/>
          </a:solidFill>
          <a:ln w="12700">
            <a:solidFill>
              <a:schemeClr val="tx2"/>
            </a:solidFill>
            <a:prstDash val="solid"/>
          </a:ln>
          <a:effectLst>
            <a:outerShdw blurRad="101600" dist="38100" dir="5400000" algn="bl" rotWithShape="0">
              <a:srgbClr val="0E2238">
                <a:alpha val="25000"/>
              </a:srgbClr>
            </a:outerShdw>
          </a:effectLst>
        </p:spPr>
        <p:txBody>
          <a:bodyPr/>
          <a:lstStyle/>
          <a:p>
            <a:endParaRPr lang="pl-PL"/>
          </a:p>
        </p:txBody>
      </p:sp>
      <p:pic>
        <p:nvPicPr>
          <p:cNvPr id="6" name="Trasa — kroki z barierami" descr="Zrzut ekranu aplikacji BezProgu: Trasa — kroki z barierami"/>
          <p:cNvPicPr>
            <a:picLocks noChangeAspect="1"/>
          </p:cNvPicPr>
          <p:nvPr/>
        </p:nvPicPr>
        <p:blipFill>
          <a:blip r:embed="rId4"/>
          <a:stretch>
            <a:fillRect/>
          </a:stretch>
        </p:blipFill>
        <p:spPr>
          <a:xfrm>
            <a:off x="3063240" y="1325880"/>
            <a:ext cx="2260540" cy="4892040"/>
          </a:xfrm>
          <a:prstGeom prst="rect">
            <a:avLst/>
          </a:prstGeom>
        </p:spPr>
      </p:pic>
      <p:sp>
        <p:nvSpPr>
          <p:cNvPr id="7" name="Trasa – tło"/>
          <p:cNvSpPr/>
          <p:nvPr/>
        </p:nvSpPr>
        <p:spPr>
          <a:xfrm>
            <a:off x="5989320" y="1325880"/>
            <a:ext cx="566928" cy="566928"/>
          </a:xfrm>
          <a:prstGeom prst="ellipse">
            <a:avLst/>
          </a:prstGeom>
          <a:solidFill>
            <a:schemeClr val="accent1"/>
          </a:solidFill>
          <a:ln w="12700">
            <a:solidFill>
              <a:schemeClr val="accent1"/>
            </a:solidFill>
            <a:prstDash val="solid"/>
          </a:ln>
        </p:spPr>
        <p:txBody>
          <a:bodyPr/>
          <a:lstStyle/>
          <a:p>
            <a:endParaRPr lang="pl-PL"/>
          </a:p>
        </p:txBody>
      </p:sp>
      <p:pic>
        <p:nvPicPr>
          <p:cNvPr id="8" name="Trasa" descr="Trasa"/>
          <p:cNvPicPr>
            <a:picLocks noChangeAspect="1"/>
          </p:cNvPicPr>
          <p:nvPr/>
        </p:nvPicPr>
        <p:blipFill>
          <a:blip r:embed="rId5"/>
          <a:stretch>
            <a:fillRect/>
          </a:stretch>
        </p:blipFill>
        <p:spPr>
          <a:xfrm>
            <a:off x="6131052" y="1467612"/>
            <a:ext cx="283464" cy="283464"/>
          </a:xfrm>
          <a:prstGeom prst="rect">
            <a:avLst/>
          </a:prstGeom>
        </p:spPr>
      </p:pic>
      <p:sp>
        <p:nvSpPr>
          <p:cNvPr id="9" name="Text 4"/>
          <p:cNvSpPr txBox="1"/>
          <p:nvPr/>
        </p:nvSpPr>
        <p:spPr>
          <a:xfrm>
            <a:off x="6720840" y="1325880"/>
            <a:ext cx="4937760" cy="566928"/>
          </a:xfrm>
          <a:prstGeom prst="rect">
            <a:avLst/>
          </a:prstGeom>
          <a:noFill/>
          <a:ln/>
        </p:spPr>
        <p:txBody>
          <a:bodyPr wrap="square" lIns="0" tIns="0" rIns="0" bIns="0" rtlCol="0" anchor="ctr"/>
          <a:lstStyle/>
          <a:p>
            <a:pPr marL="0" indent="0">
              <a:buNone/>
            </a:pPr>
            <a:r>
              <a:rPr lang="en-US" sz="1800" b="1" dirty="0">
                <a:solidFill>
                  <a:schemeClr val="tx2"/>
                </a:solidFill>
              </a:rPr>
              <a:t>Trasa bez schodów: Kraków Główny → Rynek</a:t>
            </a:r>
            <a:endParaRPr lang="en-US" sz="1800" dirty="0"/>
          </a:p>
        </p:txBody>
      </p:sp>
      <p:sp>
        <p:nvSpPr>
          <p:cNvPr id="10" name="Text 5"/>
          <p:cNvSpPr txBox="1"/>
          <p:nvPr/>
        </p:nvSpPr>
        <p:spPr>
          <a:xfrm>
            <a:off x="6720840" y="1965960"/>
            <a:ext cx="493776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Schody wykluczone zawsze; kostkę brukową omijamy według profilu</a:t>
            </a:r>
            <a:endParaRPr lang="en-US" sz="1500" dirty="0"/>
          </a:p>
          <a:p>
            <a:pPr marL="203200" indent="-203200">
              <a:spcAft>
                <a:spcPts val="600"/>
              </a:spcAft>
              <a:buSzPct val="100000"/>
              <a:buChar char="•"/>
            </a:pPr>
            <a:r>
              <a:rPr lang="en-US" sz="1500" dirty="0">
                <a:solidFill>
                  <a:schemeClr val="tx1"/>
                </a:solidFill>
              </a:rPr>
              <a:t>W każdym kroku: nawierzchnia, krawężniki na przejściach, źródło i data</a:t>
            </a:r>
            <a:endParaRPr lang="en-US" sz="1500" dirty="0"/>
          </a:p>
          <a:p>
            <a:pPr marL="203200" indent="-203200">
              <a:spcAft>
                <a:spcPts val="600"/>
              </a:spcAft>
              <a:buSzPct val="100000"/>
              <a:buChar char="•"/>
            </a:pPr>
            <a:r>
              <a:rPr lang="en-US" sz="1500" dirty="0">
                <a:solidFill>
                  <a:schemeClr val="tx1"/>
                </a:solidFill>
              </a:rPr>
              <a:t>„Brak danych o krawężniku. Nie wiemy, czy jest obniżony” zamiast domysłów</a:t>
            </a:r>
            <a:endParaRPr lang="en-US" sz="1500" dirty="0"/>
          </a:p>
          <a:p>
            <a:pPr marL="203200" indent="-203200">
              <a:spcAft>
                <a:spcPts val="600"/>
              </a:spcAft>
              <a:buSzPct val="100000"/>
              <a:buChar char="•"/>
            </a:pPr>
            <a:r>
              <a:rPr lang="en-US" sz="1500" dirty="0">
                <a:solidFill>
                  <a:schemeClr val="tx1"/>
                </a:solidFill>
              </a:rPr>
              <a:t>Trasa alternatywna z uczciwym porównaniem liczby utrudnień</a:t>
            </a:r>
            <a:endParaRPr lang="en-US" sz="1500" dirty="0"/>
          </a:p>
        </p:txBody>
      </p:sp>
      <p:sp>
        <p:nvSpPr>
          <p:cNvPr id="11" name="Zgłoszenia – tło"/>
          <p:cNvSpPr/>
          <p:nvPr/>
        </p:nvSpPr>
        <p:spPr>
          <a:xfrm>
            <a:off x="5989320" y="4160520"/>
            <a:ext cx="566928" cy="566928"/>
          </a:xfrm>
          <a:prstGeom prst="ellipse">
            <a:avLst/>
          </a:prstGeom>
          <a:solidFill>
            <a:schemeClr val="accent5"/>
          </a:solidFill>
          <a:ln w="12700">
            <a:solidFill>
              <a:schemeClr val="accent5"/>
            </a:solidFill>
            <a:prstDash val="solid"/>
          </a:ln>
        </p:spPr>
        <p:txBody>
          <a:bodyPr/>
          <a:lstStyle/>
          <a:p>
            <a:endParaRPr lang="pl-PL"/>
          </a:p>
        </p:txBody>
      </p:sp>
      <p:pic>
        <p:nvPicPr>
          <p:cNvPr id="12" name="Zgłoszenia" descr="Zgłoszenia"/>
          <p:cNvPicPr>
            <a:picLocks noChangeAspect="1"/>
          </p:cNvPicPr>
          <p:nvPr/>
        </p:nvPicPr>
        <p:blipFill>
          <a:blip r:embed="rId6"/>
          <a:stretch>
            <a:fillRect/>
          </a:stretch>
        </p:blipFill>
        <p:spPr>
          <a:xfrm>
            <a:off x="6131052" y="4302252"/>
            <a:ext cx="283464" cy="283464"/>
          </a:xfrm>
          <a:prstGeom prst="rect">
            <a:avLst/>
          </a:prstGeom>
        </p:spPr>
      </p:pic>
      <p:sp>
        <p:nvSpPr>
          <p:cNvPr id="13" name="Text 7"/>
          <p:cNvSpPr txBox="1"/>
          <p:nvPr/>
        </p:nvSpPr>
        <p:spPr>
          <a:xfrm>
            <a:off x="6720840" y="4160520"/>
            <a:ext cx="4937760" cy="566928"/>
          </a:xfrm>
          <a:prstGeom prst="rect">
            <a:avLst/>
          </a:prstGeom>
          <a:noFill/>
          <a:ln/>
        </p:spPr>
        <p:txBody>
          <a:bodyPr wrap="square" lIns="0" tIns="0" rIns="0" bIns="0" rtlCol="0" anchor="ctr"/>
          <a:lstStyle/>
          <a:p>
            <a:pPr marL="0" indent="0">
              <a:buNone/>
            </a:pPr>
            <a:r>
              <a:rPr lang="en-US" sz="1800" b="1" dirty="0">
                <a:solidFill>
                  <a:schemeClr val="tx2"/>
                </a:solidFill>
              </a:rPr>
              <a:t>Zgłoszenie poprawki: 3 kroki, bez konta</a:t>
            </a:r>
            <a:endParaRPr lang="en-US" sz="1800" dirty="0"/>
          </a:p>
        </p:txBody>
      </p:sp>
      <p:sp>
        <p:nvSpPr>
          <p:cNvPr id="14" name="Text 8"/>
          <p:cNvSpPr txBox="1"/>
          <p:nvPr/>
        </p:nvSpPr>
        <p:spPr>
          <a:xfrm>
            <a:off x="6720840" y="4800600"/>
            <a:ext cx="4937760" cy="13716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Od razu widoczne na karcie jako „Zgłoszenie użytkownika”, nie jako potwierdzenie</a:t>
            </a:r>
            <a:endParaRPr lang="en-US" sz="1500" dirty="0"/>
          </a:p>
          <a:p>
            <a:pPr marL="203200" indent="-203200">
              <a:spcAft>
                <a:spcPts val="600"/>
              </a:spcAft>
              <a:buSzPct val="100000"/>
              <a:buChar char="•"/>
            </a:pPr>
            <a:r>
              <a:rPr lang="en-US" sz="1500" dirty="0">
                <a:solidFill>
                  <a:schemeClr val="tx1"/>
                </a:solidFill>
              </a:rPr>
              <a:t>Pełna historia zmian każdej karty</a:t>
            </a:r>
            <a:endParaRPr lang="en-US" sz="1500" dirty="0"/>
          </a:p>
          <a:p>
            <a:pPr marL="203200" indent="-203200">
              <a:spcAft>
                <a:spcPts val="600"/>
              </a:spcAft>
              <a:buSzPct val="100000"/>
              <a:buChar char="•"/>
            </a:pPr>
            <a:r>
              <a:rPr lang="en-US" sz="1500" dirty="0">
                <a:solidFill>
                  <a:schemeClr val="tx1"/>
                </a:solidFill>
              </a:rPr>
              <a:t>Ochrona przed botami bez CAPTCHA: ukryte pole i limit zgłoszeń</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Sześć statusów wiarygodności i jasne reguły na awarie</a:t>
            </a:r>
            <a:endParaRPr lang="en-US" sz="3000" dirty="0"/>
          </a:p>
        </p:txBody>
      </p:sp>
      <p:sp>
        <p:nvSpPr>
          <p:cNvPr id="3" name="Status Potwierdzone"/>
          <p:cNvSpPr/>
          <p:nvPr/>
        </p:nvSpPr>
        <p:spPr>
          <a:xfrm>
            <a:off x="548640" y="1325880"/>
            <a:ext cx="2834640" cy="1371600"/>
          </a:xfrm>
          <a:prstGeom prst="roundRect">
            <a:avLst>
              <a:gd name="adj" fmla="val 8000"/>
            </a:avLst>
          </a:prstGeom>
          <a:solidFill>
            <a:schemeClr val="bg2"/>
          </a:solidFill>
          <a:ln w="12700">
            <a:solidFill>
              <a:schemeClr val="bg2"/>
            </a:solidFill>
            <a:prstDash val="solid"/>
          </a:ln>
        </p:spPr>
        <p:txBody>
          <a:bodyPr/>
          <a:lstStyle/>
          <a:p>
            <a:endParaRPr lang="pl-PL"/>
          </a:p>
        </p:txBody>
      </p:sp>
      <p:pic>
        <p:nvPicPr>
          <p:cNvPr id="4" name="Potwierdzone" descr="Potwierdzone"/>
          <p:cNvPicPr>
            <a:picLocks noChangeAspect="1"/>
          </p:cNvPicPr>
          <p:nvPr/>
        </p:nvPicPr>
        <p:blipFill>
          <a:blip r:embed="rId3"/>
          <a:stretch>
            <a:fillRect/>
          </a:stretch>
        </p:blipFill>
        <p:spPr>
          <a:xfrm>
            <a:off x="749808" y="1545336"/>
            <a:ext cx="347472" cy="347472"/>
          </a:xfrm>
          <a:prstGeom prst="rect">
            <a:avLst/>
          </a:prstGeom>
        </p:spPr>
      </p:pic>
      <p:sp>
        <p:nvSpPr>
          <p:cNvPr id="5" name="Text 2"/>
          <p:cNvSpPr txBox="1"/>
          <p:nvPr/>
        </p:nvSpPr>
        <p:spPr>
          <a:xfrm>
            <a:off x="1207008" y="1508760"/>
            <a:ext cx="2057400" cy="420624"/>
          </a:xfrm>
          <a:prstGeom prst="rect">
            <a:avLst/>
          </a:prstGeom>
          <a:noFill/>
          <a:ln/>
        </p:spPr>
        <p:txBody>
          <a:bodyPr wrap="square" lIns="0" tIns="0" rIns="0" bIns="0" rtlCol="0" anchor="ctr"/>
          <a:lstStyle/>
          <a:p>
            <a:pPr marL="0" indent="0">
              <a:buNone/>
            </a:pPr>
            <a:r>
              <a:rPr lang="en-US" sz="1500" b="1" dirty="0">
                <a:solidFill>
                  <a:schemeClr val="accent3"/>
                </a:solidFill>
              </a:rPr>
              <a:t>Potwierdzone</a:t>
            </a:r>
            <a:endParaRPr lang="en-US" sz="1500" dirty="0"/>
          </a:p>
        </p:txBody>
      </p:sp>
      <p:sp>
        <p:nvSpPr>
          <p:cNvPr id="6" name="Text 3"/>
          <p:cNvSpPr txBox="1"/>
          <p:nvPr/>
        </p:nvSpPr>
        <p:spPr>
          <a:xfrm>
            <a:off x="749808" y="2039112"/>
            <a:ext cx="2432304" cy="566928"/>
          </a:xfrm>
          <a:prstGeom prst="rect">
            <a:avLst/>
          </a:prstGeom>
          <a:noFill/>
          <a:ln/>
        </p:spPr>
        <p:txBody>
          <a:bodyPr wrap="square" lIns="0" tIns="0" rIns="0" bIns="0" rtlCol="0" anchor="t"/>
          <a:lstStyle/>
          <a:p>
            <a:pPr marL="0" indent="0">
              <a:buNone/>
            </a:pPr>
            <a:r>
              <a:rPr lang="en-US" sz="1300" dirty="0">
                <a:solidFill>
                  <a:schemeClr val="tx1"/>
                </a:solidFill>
              </a:rPr>
              <a:t>Właściciel obiektu lub weryfikacja na miejscu</a:t>
            </a:r>
            <a:endParaRPr lang="en-US" sz="1300" dirty="0"/>
          </a:p>
        </p:txBody>
      </p:sp>
      <p:sp>
        <p:nvSpPr>
          <p:cNvPr id="7" name="Status Z otwartych danych"/>
          <p:cNvSpPr/>
          <p:nvPr/>
        </p:nvSpPr>
        <p:spPr>
          <a:xfrm>
            <a:off x="3611880" y="1325880"/>
            <a:ext cx="2834640" cy="1371600"/>
          </a:xfrm>
          <a:prstGeom prst="roundRect">
            <a:avLst>
              <a:gd name="adj" fmla="val 8000"/>
            </a:avLst>
          </a:prstGeom>
          <a:solidFill>
            <a:schemeClr val="bg2"/>
          </a:solidFill>
          <a:ln w="12700">
            <a:solidFill>
              <a:schemeClr val="bg2"/>
            </a:solidFill>
            <a:prstDash val="solid"/>
          </a:ln>
        </p:spPr>
        <p:txBody>
          <a:bodyPr/>
          <a:lstStyle/>
          <a:p>
            <a:endParaRPr lang="pl-PL"/>
          </a:p>
        </p:txBody>
      </p:sp>
      <p:pic>
        <p:nvPicPr>
          <p:cNvPr id="8" name="Z otwartych danych" descr="Z otwartych danych"/>
          <p:cNvPicPr>
            <a:picLocks noChangeAspect="1"/>
          </p:cNvPicPr>
          <p:nvPr/>
        </p:nvPicPr>
        <p:blipFill>
          <a:blip r:embed="rId4"/>
          <a:stretch>
            <a:fillRect/>
          </a:stretch>
        </p:blipFill>
        <p:spPr>
          <a:xfrm>
            <a:off x="3813048" y="1545336"/>
            <a:ext cx="347472" cy="347472"/>
          </a:xfrm>
          <a:prstGeom prst="rect">
            <a:avLst/>
          </a:prstGeom>
        </p:spPr>
      </p:pic>
      <p:sp>
        <p:nvSpPr>
          <p:cNvPr id="9" name="Text 5"/>
          <p:cNvSpPr txBox="1"/>
          <p:nvPr/>
        </p:nvSpPr>
        <p:spPr>
          <a:xfrm>
            <a:off x="4270248" y="1508760"/>
            <a:ext cx="2057400" cy="420624"/>
          </a:xfrm>
          <a:prstGeom prst="rect">
            <a:avLst/>
          </a:prstGeom>
          <a:noFill/>
          <a:ln/>
        </p:spPr>
        <p:txBody>
          <a:bodyPr wrap="square" lIns="0" tIns="0" rIns="0" bIns="0" rtlCol="0" anchor="ctr"/>
          <a:lstStyle/>
          <a:p>
            <a:pPr marL="0" indent="0">
              <a:buNone/>
            </a:pPr>
            <a:r>
              <a:rPr lang="en-US" sz="1500" b="1" dirty="0">
                <a:solidFill>
                  <a:schemeClr val="accent1"/>
                </a:solidFill>
              </a:rPr>
              <a:t>Z otwartych danych</a:t>
            </a:r>
            <a:endParaRPr lang="en-US" sz="1500" dirty="0"/>
          </a:p>
        </p:txBody>
      </p:sp>
      <p:sp>
        <p:nvSpPr>
          <p:cNvPr id="10" name="Text 6"/>
          <p:cNvSpPr txBox="1"/>
          <p:nvPr/>
        </p:nvSpPr>
        <p:spPr>
          <a:xfrm>
            <a:off x="3813048" y="2039112"/>
            <a:ext cx="2432304" cy="566928"/>
          </a:xfrm>
          <a:prstGeom prst="rect">
            <a:avLst/>
          </a:prstGeom>
          <a:noFill/>
          <a:ln/>
        </p:spPr>
        <p:txBody>
          <a:bodyPr wrap="square" lIns="0" tIns="0" rIns="0" bIns="0" rtlCol="0" anchor="t"/>
          <a:lstStyle/>
          <a:p>
            <a:pPr marL="0" indent="0">
              <a:buNone/>
            </a:pPr>
            <a:r>
              <a:rPr lang="en-US" sz="1300" dirty="0">
                <a:solidFill>
                  <a:schemeClr val="tx1"/>
                </a:solidFill>
              </a:rPr>
              <a:t>OSM, dane miejskie; niepotwierdzone na miejscu</a:t>
            </a:r>
            <a:endParaRPr lang="en-US" sz="1300" dirty="0"/>
          </a:p>
        </p:txBody>
      </p:sp>
      <p:sp>
        <p:nvSpPr>
          <p:cNvPr id="11" name="Status Zgłoszenie użytkownika"/>
          <p:cNvSpPr/>
          <p:nvPr/>
        </p:nvSpPr>
        <p:spPr>
          <a:xfrm>
            <a:off x="548640" y="2880360"/>
            <a:ext cx="2834640" cy="1371600"/>
          </a:xfrm>
          <a:prstGeom prst="roundRect">
            <a:avLst>
              <a:gd name="adj" fmla="val 8000"/>
            </a:avLst>
          </a:prstGeom>
          <a:solidFill>
            <a:schemeClr val="bg2"/>
          </a:solidFill>
          <a:ln w="12700">
            <a:solidFill>
              <a:schemeClr val="bg2"/>
            </a:solidFill>
            <a:prstDash val="solid"/>
          </a:ln>
        </p:spPr>
        <p:txBody>
          <a:bodyPr/>
          <a:lstStyle/>
          <a:p>
            <a:endParaRPr lang="pl-PL"/>
          </a:p>
        </p:txBody>
      </p:sp>
      <p:pic>
        <p:nvPicPr>
          <p:cNvPr id="12" name="Zgłoszenie użytkownika" descr="Zgłoszenie użytkownika"/>
          <p:cNvPicPr>
            <a:picLocks noChangeAspect="1"/>
          </p:cNvPicPr>
          <p:nvPr/>
        </p:nvPicPr>
        <p:blipFill>
          <a:blip r:embed="rId5"/>
          <a:stretch>
            <a:fillRect/>
          </a:stretch>
        </p:blipFill>
        <p:spPr>
          <a:xfrm>
            <a:off x="749808" y="3099816"/>
            <a:ext cx="347472" cy="347472"/>
          </a:xfrm>
          <a:prstGeom prst="rect">
            <a:avLst/>
          </a:prstGeom>
        </p:spPr>
      </p:pic>
      <p:sp>
        <p:nvSpPr>
          <p:cNvPr id="13" name="Text 8"/>
          <p:cNvSpPr txBox="1"/>
          <p:nvPr/>
        </p:nvSpPr>
        <p:spPr>
          <a:xfrm>
            <a:off x="1207008" y="3063240"/>
            <a:ext cx="2057400" cy="420624"/>
          </a:xfrm>
          <a:prstGeom prst="rect">
            <a:avLst/>
          </a:prstGeom>
          <a:noFill/>
          <a:ln/>
        </p:spPr>
        <p:txBody>
          <a:bodyPr wrap="square" lIns="0" tIns="0" rIns="0" bIns="0" rtlCol="0" anchor="ctr"/>
          <a:lstStyle/>
          <a:p>
            <a:pPr marL="0" indent="0">
              <a:buNone/>
            </a:pPr>
            <a:r>
              <a:rPr lang="en-US" sz="1500" b="1" dirty="0">
                <a:solidFill>
                  <a:schemeClr val="accent5"/>
                </a:solidFill>
              </a:rPr>
              <a:t>Zgłoszenie użytkownika</a:t>
            </a:r>
            <a:endParaRPr lang="en-US" sz="1500" dirty="0"/>
          </a:p>
        </p:txBody>
      </p:sp>
      <p:sp>
        <p:nvSpPr>
          <p:cNvPr id="14" name="Text 9"/>
          <p:cNvSpPr txBox="1"/>
          <p:nvPr/>
        </p:nvSpPr>
        <p:spPr>
          <a:xfrm>
            <a:off x="749808" y="3593592"/>
            <a:ext cx="2432304" cy="566928"/>
          </a:xfrm>
          <a:prstGeom prst="rect">
            <a:avLst/>
          </a:prstGeom>
          <a:noFill/>
          <a:ln/>
        </p:spPr>
        <p:txBody>
          <a:bodyPr wrap="square" lIns="0" tIns="0" rIns="0" bIns="0" rtlCol="0" anchor="t"/>
          <a:lstStyle/>
          <a:p>
            <a:pPr marL="0" indent="0">
              <a:buNone/>
            </a:pPr>
            <a:r>
              <a:rPr lang="en-US" sz="1300" dirty="0">
                <a:solidFill>
                  <a:schemeClr val="tx1"/>
                </a:solidFill>
              </a:rPr>
              <a:t>Widoczne od razu, oznaczone jako niezweryfikowane</a:t>
            </a:r>
            <a:endParaRPr lang="en-US" sz="1300" dirty="0"/>
          </a:p>
        </p:txBody>
      </p:sp>
      <p:sp>
        <p:nvSpPr>
          <p:cNvPr id="15" name="Status Sprzeczne"/>
          <p:cNvSpPr/>
          <p:nvPr/>
        </p:nvSpPr>
        <p:spPr>
          <a:xfrm>
            <a:off x="3611880" y="2880360"/>
            <a:ext cx="2834640" cy="1371600"/>
          </a:xfrm>
          <a:prstGeom prst="roundRect">
            <a:avLst>
              <a:gd name="adj" fmla="val 8000"/>
            </a:avLst>
          </a:prstGeom>
          <a:solidFill>
            <a:schemeClr val="bg2"/>
          </a:solidFill>
          <a:ln w="12700">
            <a:solidFill>
              <a:schemeClr val="bg2"/>
            </a:solidFill>
            <a:prstDash val="solid"/>
          </a:ln>
        </p:spPr>
        <p:txBody>
          <a:bodyPr/>
          <a:lstStyle/>
          <a:p>
            <a:endParaRPr lang="pl-PL"/>
          </a:p>
        </p:txBody>
      </p:sp>
      <p:pic>
        <p:nvPicPr>
          <p:cNvPr id="16" name="Sprzeczne" descr="Sprzeczne"/>
          <p:cNvPicPr>
            <a:picLocks noChangeAspect="1"/>
          </p:cNvPicPr>
          <p:nvPr/>
        </p:nvPicPr>
        <p:blipFill>
          <a:blip r:embed="rId6"/>
          <a:stretch>
            <a:fillRect/>
          </a:stretch>
        </p:blipFill>
        <p:spPr>
          <a:xfrm>
            <a:off x="3813048" y="3099816"/>
            <a:ext cx="347472" cy="347472"/>
          </a:xfrm>
          <a:prstGeom prst="rect">
            <a:avLst/>
          </a:prstGeom>
        </p:spPr>
      </p:pic>
      <p:sp>
        <p:nvSpPr>
          <p:cNvPr id="17" name="Text 11"/>
          <p:cNvSpPr txBox="1"/>
          <p:nvPr/>
        </p:nvSpPr>
        <p:spPr>
          <a:xfrm>
            <a:off x="4270248" y="3063240"/>
            <a:ext cx="2057400" cy="420624"/>
          </a:xfrm>
          <a:prstGeom prst="rect">
            <a:avLst/>
          </a:prstGeom>
          <a:noFill/>
          <a:ln/>
        </p:spPr>
        <p:txBody>
          <a:bodyPr wrap="square" lIns="0" tIns="0" rIns="0" bIns="0" rtlCol="0" anchor="ctr"/>
          <a:lstStyle/>
          <a:p>
            <a:pPr marL="0" indent="0">
              <a:buNone/>
            </a:pPr>
            <a:r>
              <a:rPr lang="en-US" sz="1500" b="1" dirty="0">
                <a:solidFill>
                  <a:schemeClr val="accent5"/>
                </a:solidFill>
              </a:rPr>
              <a:t>Sprzeczne</a:t>
            </a:r>
            <a:endParaRPr lang="en-US" sz="1500" dirty="0"/>
          </a:p>
        </p:txBody>
      </p:sp>
      <p:sp>
        <p:nvSpPr>
          <p:cNvPr id="18" name="Text 12"/>
          <p:cNvSpPr txBox="1"/>
          <p:nvPr/>
        </p:nvSpPr>
        <p:spPr>
          <a:xfrm>
            <a:off x="3813048" y="3593592"/>
            <a:ext cx="2432304" cy="566928"/>
          </a:xfrm>
          <a:prstGeom prst="rect">
            <a:avLst/>
          </a:prstGeom>
          <a:noFill/>
          <a:ln/>
        </p:spPr>
        <p:txBody>
          <a:bodyPr wrap="square" lIns="0" tIns="0" rIns="0" bIns="0" rtlCol="0" anchor="t"/>
          <a:lstStyle/>
          <a:p>
            <a:pPr marL="0" indent="0">
              <a:buNone/>
            </a:pPr>
            <a:r>
              <a:rPr lang="en-US" sz="1300" dirty="0">
                <a:solidFill>
                  <a:schemeClr val="tx1"/>
                </a:solidFill>
              </a:rPr>
              <a:t>Źródła podają różne wartości; pokazujemy wszystkie</a:t>
            </a:r>
            <a:endParaRPr lang="en-US" sz="1300" dirty="0"/>
          </a:p>
        </p:txBody>
      </p:sp>
      <p:sp>
        <p:nvSpPr>
          <p:cNvPr id="19" name="Status Może być nieaktualne"/>
          <p:cNvSpPr/>
          <p:nvPr/>
        </p:nvSpPr>
        <p:spPr>
          <a:xfrm>
            <a:off x="548640" y="4434840"/>
            <a:ext cx="2834640" cy="1371600"/>
          </a:xfrm>
          <a:prstGeom prst="roundRect">
            <a:avLst>
              <a:gd name="adj" fmla="val 8000"/>
            </a:avLst>
          </a:prstGeom>
          <a:solidFill>
            <a:schemeClr val="bg2"/>
          </a:solidFill>
          <a:ln w="12700">
            <a:solidFill>
              <a:schemeClr val="bg2"/>
            </a:solidFill>
            <a:prstDash val="solid"/>
          </a:ln>
        </p:spPr>
        <p:txBody>
          <a:bodyPr/>
          <a:lstStyle/>
          <a:p>
            <a:endParaRPr lang="pl-PL"/>
          </a:p>
        </p:txBody>
      </p:sp>
      <p:pic>
        <p:nvPicPr>
          <p:cNvPr id="20" name="Może być nieaktualne" descr="Może być nieaktualne"/>
          <p:cNvPicPr>
            <a:picLocks noChangeAspect="1"/>
          </p:cNvPicPr>
          <p:nvPr/>
        </p:nvPicPr>
        <p:blipFill>
          <a:blip r:embed="rId7"/>
          <a:stretch>
            <a:fillRect/>
          </a:stretch>
        </p:blipFill>
        <p:spPr>
          <a:xfrm>
            <a:off x="749808" y="4654296"/>
            <a:ext cx="347472" cy="347472"/>
          </a:xfrm>
          <a:prstGeom prst="rect">
            <a:avLst/>
          </a:prstGeom>
        </p:spPr>
      </p:pic>
      <p:sp>
        <p:nvSpPr>
          <p:cNvPr id="21" name="Text 14"/>
          <p:cNvSpPr txBox="1"/>
          <p:nvPr/>
        </p:nvSpPr>
        <p:spPr>
          <a:xfrm>
            <a:off x="1207008" y="4617720"/>
            <a:ext cx="2057400" cy="420624"/>
          </a:xfrm>
          <a:prstGeom prst="rect">
            <a:avLst/>
          </a:prstGeom>
          <a:noFill/>
          <a:ln/>
        </p:spPr>
        <p:txBody>
          <a:bodyPr wrap="square" lIns="0" tIns="0" rIns="0" bIns="0" rtlCol="0" anchor="ctr"/>
          <a:lstStyle/>
          <a:p>
            <a:pPr marL="0" indent="0">
              <a:buNone/>
            </a:pPr>
            <a:r>
              <a:rPr lang="en-US" sz="1500" b="1" dirty="0">
                <a:solidFill>
                  <a:schemeClr val="accent5"/>
                </a:solidFill>
              </a:rPr>
              <a:t>Może być nieaktualne</a:t>
            </a:r>
            <a:endParaRPr lang="en-US" sz="1500" dirty="0"/>
          </a:p>
        </p:txBody>
      </p:sp>
      <p:sp>
        <p:nvSpPr>
          <p:cNvPr id="22" name="Text 15"/>
          <p:cNvSpPr txBox="1"/>
          <p:nvPr/>
        </p:nvSpPr>
        <p:spPr>
          <a:xfrm>
            <a:off x="749808" y="5148072"/>
            <a:ext cx="2432304" cy="566928"/>
          </a:xfrm>
          <a:prstGeom prst="rect">
            <a:avLst/>
          </a:prstGeom>
          <a:noFill/>
          <a:ln/>
        </p:spPr>
        <p:txBody>
          <a:bodyPr wrap="square" lIns="0" tIns="0" rIns="0" bIns="0" rtlCol="0" anchor="t"/>
          <a:lstStyle/>
          <a:p>
            <a:pPr marL="0" indent="0">
              <a:buNone/>
            </a:pPr>
            <a:r>
              <a:rPr lang="en-US" sz="1300" dirty="0">
                <a:solidFill>
                  <a:schemeClr val="tx1"/>
                </a:solidFill>
              </a:rPr>
              <a:t>Ostatnie potwierdzenie starsze niż 2 lata</a:t>
            </a:r>
            <a:endParaRPr lang="en-US" sz="1300" dirty="0"/>
          </a:p>
        </p:txBody>
      </p:sp>
      <p:sp>
        <p:nvSpPr>
          <p:cNvPr id="23" name="Status Brak danych"/>
          <p:cNvSpPr/>
          <p:nvPr/>
        </p:nvSpPr>
        <p:spPr>
          <a:xfrm>
            <a:off x="3611880" y="4434840"/>
            <a:ext cx="2834640" cy="1371600"/>
          </a:xfrm>
          <a:prstGeom prst="roundRect">
            <a:avLst>
              <a:gd name="adj" fmla="val 8000"/>
            </a:avLst>
          </a:prstGeom>
          <a:solidFill>
            <a:schemeClr val="bg2"/>
          </a:solidFill>
          <a:ln w="12700">
            <a:solidFill>
              <a:schemeClr val="bg2"/>
            </a:solidFill>
            <a:prstDash val="solid"/>
          </a:ln>
        </p:spPr>
        <p:txBody>
          <a:bodyPr/>
          <a:lstStyle/>
          <a:p>
            <a:endParaRPr lang="pl-PL"/>
          </a:p>
        </p:txBody>
      </p:sp>
      <p:pic>
        <p:nvPicPr>
          <p:cNvPr id="24" name="Brak danych" descr="Brak danych"/>
          <p:cNvPicPr>
            <a:picLocks noChangeAspect="1"/>
          </p:cNvPicPr>
          <p:nvPr/>
        </p:nvPicPr>
        <p:blipFill>
          <a:blip r:embed="rId8"/>
          <a:stretch>
            <a:fillRect/>
          </a:stretch>
        </p:blipFill>
        <p:spPr>
          <a:xfrm>
            <a:off x="3813048" y="4654296"/>
            <a:ext cx="347472" cy="347472"/>
          </a:xfrm>
          <a:prstGeom prst="rect">
            <a:avLst/>
          </a:prstGeom>
        </p:spPr>
      </p:pic>
      <p:sp>
        <p:nvSpPr>
          <p:cNvPr id="25" name="Text 17"/>
          <p:cNvSpPr txBox="1"/>
          <p:nvPr/>
        </p:nvSpPr>
        <p:spPr>
          <a:xfrm>
            <a:off x="4270248" y="4617720"/>
            <a:ext cx="2057400" cy="420624"/>
          </a:xfrm>
          <a:prstGeom prst="rect">
            <a:avLst/>
          </a:prstGeom>
          <a:noFill/>
          <a:ln/>
        </p:spPr>
        <p:txBody>
          <a:bodyPr wrap="square" lIns="0" tIns="0" rIns="0" bIns="0" rtlCol="0" anchor="ctr"/>
          <a:lstStyle/>
          <a:p>
            <a:pPr marL="0" indent="0">
              <a:buNone/>
            </a:pPr>
            <a:r>
              <a:rPr lang="en-US" sz="1500" b="1" dirty="0">
                <a:solidFill>
                  <a:schemeClr val="accent6"/>
                </a:solidFill>
              </a:rPr>
              <a:t>Brak danych</a:t>
            </a:r>
            <a:endParaRPr lang="en-US" sz="1500" dirty="0"/>
          </a:p>
        </p:txBody>
      </p:sp>
      <p:sp>
        <p:nvSpPr>
          <p:cNvPr id="26" name="Text 18"/>
          <p:cNvSpPr txBox="1"/>
          <p:nvPr/>
        </p:nvSpPr>
        <p:spPr>
          <a:xfrm>
            <a:off x="3813048" y="5148072"/>
            <a:ext cx="2432304" cy="566928"/>
          </a:xfrm>
          <a:prstGeom prst="rect">
            <a:avLst/>
          </a:prstGeom>
          <a:noFill/>
          <a:ln/>
        </p:spPr>
        <p:txBody>
          <a:bodyPr wrap="square" lIns="0" tIns="0" rIns="0" bIns="0" rtlCol="0" anchor="t"/>
          <a:lstStyle/>
          <a:p>
            <a:pPr marL="0" indent="0">
              <a:buNone/>
            </a:pPr>
            <a:r>
              <a:rPr lang="en-US" sz="1300" dirty="0">
                <a:solidFill>
                  <a:schemeClr val="tx1"/>
                </a:solidFill>
              </a:rPr>
              <a:t>Nigdy nie traktujemy braku jako „dostępne”</a:t>
            </a:r>
            <a:endParaRPr lang="en-US" sz="1300" dirty="0"/>
          </a:p>
        </p:txBody>
      </p:sp>
      <p:sp>
        <p:nvSpPr>
          <p:cNvPr id="27" name="Text 19"/>
          <p:cNvSpPr txBox="1"/>
          <p:nvPr/>
        </p:nvSpPr>
        <p:spPr>
          <a:xfrm>
            <a:off x="6766560" y="1325880"/>
            <a:ext cx="4876495" cy="411480"/>
          </a:xfrm>
          <a:prstGeom prst="rect">
            <a:avLst/>
          </a:prstGeom>
          <a:noFill/>
          <a:ln/>
        </p:spPr>
        <p:txBody>
          <a:bodyPr wrap="square" lIns="0" tIns="0" rIns="0" bIns="0" rtlCol="0" anchor="t"/>
          <a:lstStyle/>
          <a:p>
            <a:pPr marL="0" indent="0">
              <a:buNone/>
            </a:pPr>
            <a:r>
              <a:rPr lang="en-US" sz="2000" b="1" dirty="0">
                <a:solidFill>
                  <a:schemeClr val="tx2"/>
                </a:solidFill>
              </a:rPr>
              <a:t>Gdy coś zawodzi</a:t>
            </a:r>
            <a:endParaRPr lang="en-US" sz="2000" dirty="0"/>
          </a:p>
        </p:txBody>
      </p:sp>
      <p:pic>
        <p:nvPicPr>
          <p:cNvPr id="28" name="Dane sprzeczne" descr="Dane sprzeczne"/>
          <p:cNvPicPr>
            <a:picLocks noChangeAspect="1"/>
          </p:cNvPicPr>
          <p:nvPr/>
        </p:nvPicPr>
        <p:blipFill>
          <a:blip r:embed="rId6"/>
          <a:stretch>
            <a:fillRect/>
          </a:stretch>
        </p:blipFill>
        <p:spPr>
          <a:xfrm>
            <a:off x="6766560" y="1901952"/>
            <a:ext cx="347472" cy="347472"/>
          </a:xfrm>
          <a:prstGeom prst="rect">
            <a:avLst/>
          </a:prstGeom>
        </p:spPr>
      </p:pic>
      <p:sp>
        <p:nvSpPr>
          <p:cNvPr id="29" name="Text 20"/>
          <p:cNvSpPr txBox="1"/>
          <p:nvPr/>
        </p:nvSpPr>
        <p:spPr>
          <a:xfrm>
            <a:off x="7269480" y="1874520"/>
            <a:ext cx="4373575" cy="329184"/>
          </a:xfrm>
          <a:prstGeom prst="rect">
            <a:avLst/>
          </a:prstGeom>
          <a:noFill/>
          <a:ln/>
        </p:spPr>
        <p:txBody>
          <a:bodyPr wrap="square" lIns="0" tIns="0" rIns="0" bIns="0" rtlCol="0" anchor="t"/>
          <a:lstStyle/>
          <a:p>
            <a:pPr marL="0" indent="0">
              <a:buNone/>
            </a:pPr>
            <a:r>
              <a:rPr lang="en-US" sz="1600" b="1" dirty="0">
                <a:solidFill>
                  <a:schemeClr val="tx1"/>
                </a:solidFill>
              </a:rPr>
              <a:t>Dane sprzeczne</a:t>
            </a:r>
            <a:endParaRPr lang="en-US" sz="1600" dirty="0"/>
          </a:p>
        </p:txBody>
      </p:sp>
      <p:sp>
        <p:nvSpPr>
          <p:cNvPr id="30" name="Text 21"/>
          <p:cNvSpPr txBox="1"/>
          <p:nvPr/>
        </p:nvSpPr>
        <p:spPr>
          <a:xfrm>
            <a:off x="7269480" y="2221992"/>
            <a:ext cx="4373575" cy="685800"/>
          </a:xfrm>
          <a:prstGeom prst="rect">
            <a:avLst/>
          </a:prstGeom>
          <a:noFill/>
          <a:ln/>
        </p:spPr>
        <p:txBody>
          <a:bodyPr wrap="square" lIns="0" tIns="0" rIns="0" bIns="0" rtlCol="0" anchor="t"/>
          <a:lstStyle/>
          <a:p>
            <a:pPr marL="0" indent="0">
              <a:buNone/>
            </a:pPr>
            <a:r>
              <a:rPr lang="en-US" sz="1400" dirty="0">
                <a:solidFill>
                  <a:schemeClr val="tx1"/>
                </a:solidFill>
              </a:rPr>
              <a:t>Wszystkie wersje obok siebie z datami. Dopasowanie liczymy ostrożnie: bariera z dowolnego źródła wygrywa.</a:t>
            </a:r>
            <a:endParaRPr lang="en-US" sz="1400" dirty="0"/>
          </a:p>
        </p:txBody>
      </p:sp>
      <p:pic>
        <p:nvPicPr>
          <p:cNvPr id="31" name="Dane niepełne" descr="Dane niepełne"/>
          <p:cNvPicPr>
            <a:picLocks noChangeAspect="1"/>
          </p:cNvPicPr>
          <p:nvPr/>
        </p:nvPicPr>
        <p:blipFill>
          <a:blip r:embed="rId8"/>
          <a:stretch>
            <a:fillRect/>
          </a:stretch>
        </p:blipFill>
        <p:spPr>
          <a:xfrm>
            <a:off x="6766560" y="2980944"/>
            <a:ext cx="347472" cy="347472"/>
          </a:xfrm>
          <a:prstGeom prst="rect">
            <a:avLst/>
          </a:prstGeom>
        </p:spPr>
      </p:pic>
      <p:sp>
        <p:nvSpPr>
          <p:cNvPr id="32" name="Text 22"/>
          <p:cNvSpPr txBox="1"/>
          <p:nvPr/>
        </p:nvSpPr>
        <p:spPr>
          <a:xfrm>
            <a:off x="7269480" y="2953512"/>
            <a:ext cx="4373575" cy="329184"/>
          </a:xfrm>
          <a:prstGeom prst="rect">
            <a:avLst/>
          </a:prstGeom>
          <a:noFill/>
          <a:ln/>
        </p:spPr>
        <p:txBody>
          <a:bodyPr wrap="square" lIns="0" tIns="0" rIns="0" bIns="0" rtlCol="0" anchor="t"/>
          <a:lstStyle/>
          <a:p>
            <a:pPr marL="0" indent="0">
              <a:buNone/>
            </a:pPr>
            <a:r>
              <a:rPr lang="en-US" sz="1600" b="1" dirty="0">
                <a:solidFill>
                  <a:schemeClr val="tx1"/>
                </a:solidFill>
              </a:rPr>
              <a:t>Dane niepełne</a:t>
            </a:r>
            <a:endParaRPr lang="en-US" sz="1600" dirty="0"/>
          </a:p>
        </p:txBody>
      </p:sp>
      <p:sp>
        <p:nvSpPr>
          <p:cNvPr id="33" name="Text 23"/>
          <p:cNvSpPr txBox="1"/>
          <p:nvPr/>
        </p:nvSpPr>
        <p:spPr>
          <a:xfrm>
            <a:off x="7269480" y="3300984"/>
            <a:ext cx="4373575" cy="685800"/>
          </a:xfrm>
          <a:prstGeom prst="rect">
            <a:avLst/>
          </a:prstGeom>
          <a:noFill/>
          <a:ln/>
        </p:spPr>
        <p:txBody>
          <a:bodyPr wrap="square" lIns="0" tIns="0" rIns="0" bIns="0" rtlCol="0" anchor="t"/>
          <a:lstStyle/>
          <a:p>
            <a:pPr marL="0" indent="0">
              <a:buNone/>
            </a:pPr>
            <a:r>
              <a:rPr lang="en-US" sz="1400" dirty="0">
                <a:solidFill>
                  <a:schemeClr val="tx1"/>
                </a:solidFill>
              </a:rPr>
              <a:t>Parametr ma status „Brak danych”, miejsce trafia niżej z paskiem „Mało danych: oceń ostrożnie”.</a:t>
            </a:r>
            <a:endParaRPr lang="en-US" sz="1400" dirty="0"/>
          </a:p>
        </p:txBody>
      </p:sp>
      <p:pic>
        <p:nvPicPr>
          <p:cNvPr id="34" name="Źródło niedostępne" descr="Źródło niedostępne"/>
          <p:cNvPicPr>
            <a:picLocks noChangeAspect="1"/>
          </p:cNvPicPr>
          <p:nvPr/>
        </p:nvPicPr>
        <p:blipFill>
          <a:blip r:embed="rId9"/>
          <a:stretch>
            <a:fillRect/>
          </a:stretch>
        </p:blipFill>
        <p:spPr>
          <a:xfrm>
            <a:off x="6766560" y="4059936"/>
            <a:ext cx="347472" cy="347472"/>
          </a:xfrm>
          <a:prstGeom prst="rect">
            <a:avLst/>
          </a:prstGeom>
        </p:spPr>
      </p:pic>
      <p:sp>
        <p:nvSpPr>
          <p:cNvPr id="35" name="Text 24"/>
          <p:cNvSpPr txBox="1"/>
          <p:nvPr/>
        </p:nvSpPr>
        <p:spPr>
          <a:xfrm>
            <a:off x="7269480" y="4032504"/>
            <a:ext cx="4373575" cy="329184"/>
          </a:xfrm>
          <a:prstGeom prst="rect">
            <a:avLst/>
          </a:prstGeom>
          <a:noFill/>
          <a:ln/>
        </p:spPr>
        <p:txBody>
          <a:bodyPr wrap="square" lIns="0" tIns="0" rIns="0" bIns="0" rtlCol="0" anchor="t"/>
          <a:lstStyle/>
          <a:p>
            <a:pPr marL="0" indent="0">
              <a:buNone/>
            </a:pPr>
            <a:r>
              <a:rPr lang="en-US" sz="1600" b="1" dirty="0">
                <a:solidFill>
                  <a:schemeClr val="tx1"/>
                </a:solidFill>
              </a:rPr>
              <a:t>Źródło niedostępne</a:t>
            </a:r>
            <a:endParaRPr lang="en-US" sz="1600" dirty="0"/>
          </a:p>
        </p:txBody>
      </p:sp>
      <p:sp>
        <p:nvSpPr>
          <p:cNvPr id="36" name="Text 25"/>
          <p:cNvSpPr txBox="1"/>
          <p:nvPr/>
        </p:nvSpPr>
        <p:spPr>
          <a:xfrm>
            <a:off x="7269480" y="4379976"/>
            <a:ext cx="4373575" cy="685800"/>
          </a:xfrm>
          <a:prstGeom prst="rect">
            <a:avLst/>
          </a:prstGeom>
          <a:noFill/>
          <a:ln/>
        </p:spPr>
        <p:txBody>
          <a:bodyPr wrap="square" lIns="0" tIns="0" rIns="0" bIns="0" rtlCol="0" anchor="t"/>
          <a:lstStyle/>
          <a:p>
            <a:pPr marL="0" indent="0">
              <a:buNone/>
            </a:pPr>
            <a:r>
              <a:rPr lang="en-US" sz="1400" dirty="0">
                <a:solidFill>
                  <a:schemeClr val="tx1"/>
                </a:solidFill>
              </a:rPr>
              <a:t>Zachowujemy ostatnie dane, pokazujemy datę synchronizacji i komunikat. Na żywo: Otwarte Dane Krakowa, serwis tras.</a:t>
            </a:r>
            <a:endParaRPr lang="en-US" sz="1400" dirty="0"/>
          </a:p>
        </p:txBody>
      </p:sp>
      <p:sp>
        <p:nvSpPr>
          <p:cNvPr id="37" name="Zasada łączenia źródeł"/>
          <p:cNvSpPr/>
          <p:nvPr/>
        </p:nvSpPr>
        <p:spPr>
          <a:xfrm>
            <a:off x="6766560" y="5166360"/>
            <a:ext cx="4876495" cy="960120"/>
          </a:xfrm>
          <a:prstGeom prst="roundRect">
            <a:avLst>
              <a:gd name="adj" fmla="val 11429"/>
            </a:avLst>
          </a:prstGeom>
          <a:solidFill>
            <a:schemeClr val="bg2"/>
          </a:solidFill>
          <a:ln w="12700">
            <a:solidFill>
              <a:schemeClr val="bg2"/>
            </a:solidFill>
            <a:prstDash val="solid"/>
          </a:ln>
        </p:spPr>
        <p:txBody>
          <a:bodyPr/>
          <a:lstStyle/>
          <a:p>
            <a:endParaRPr lang="pl-PL"/>
          </a:p>
        </p:txBody>
      </p:sp>
      <p:sp>
        <p:nvSpPr>
          <p:cNvPr id="38" name="Text 27"/>
          <p:cNvSpPr txBox="1"/>
          <p:nvPr/>
        </p:nvSpPr>
        <p:spPr>
          <a:xfrm>
            <a:off x="6995160" y="5257800"/>
            <a:ext cx="4419295" cy="777240"/>
          </a:xfrm>
          <a:prstGeom prst="rect">
            <a:avLst/>
          </a:prstGeom>
          <a:noFill/>
          <a:ln/>
        </p:spPr>
        <p:txBody>
          <a:bodyPr wrap="square" lIns="0" tIns="0" rIns="0" bIns="0" rtlCol="0" anchor="ctr"/>
          <a:lstStyle/>
          <a:p>
            <a:pPr marL="0" indent="0">
              <a:buNone/>
            </a:pPr>
            <a:r>
              <a:rPr lang="en-US" sz="1400" dirty="0">
                <a:solidFill>
                  <a:schemeClr val="tx2"/>
                </a:solidFill>
              </a:rPr>
              <a:t>Zasada łączenia: najnowszy fakt z każdego źródła, wyświetlamy najwiarygodniejszy, a pozostałe są o jedno kliknięcie dalej.</a:t>
            </a:r>
            <a:endParaRPr lang="en-US" sz="1400" dirty="0"/>
          </a:p>
        </p:txBody>
      </p:sp>
      <p:sp>
        <p:nvSpPr>
          <p:cNvPr id="39"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Pozyskiwanie danych oddzielone od prezentacji</a:t>
            </a:r>
            <a:endParaRPr lang="en-US" sz="3000" dirty="0"/>
          </a:p>
        </p:txBody>
      </p:sp>
      <p:sp>
        <p:nvSpPr>
          <p:cNvPr id="3" name="Etap: Źródła"/>
          <p:cNvSpPr/>
          <p:nvPr/>
        </p:nvSpPr>
        <p:spPr>
          <a:xfrm>
            <a:off x="548640" y="1325880"/>
            <a:ext cx="1645920" cy="1325880"/>
          </a:xfrm>
          <a:prstGeom prst="roundRect">
            <a:avLst>
              <a:gd name="adj" fmla="val 8276"/>
            </a:avLst>
          </a:prstGeom>
          <a:solidFill>
            <a:schemeClr val="bg2"/>
          </a:solidFill>
          <a:ln w="12700">
            <a:solidFill>
              <a:schemeClr val="bg2"/>
            </a:solidFill>
            <a:prstDash val="solid"/>
          </a:ln>
        </p:spPr>
        <p:txBody>
          <a:bodyPr/>
          <a:lstStyle/>
          <a:p>
            <a:endParaRPr lang="pl-PL"/>
          </a:p>
        </p:txBody>
      </p:sp>
      <p:sp>
        <p:nvSpPr>
          <p:cNvPr id="4" name="Text 2"/>
          <p:cNvSpPr txBox="1"/>
          <p:nvPr/>
        </p:nvSpPr>
        <p:spPr>
          <a:xfrm>
            <a:off x="685800" y="1417320"/>
            <a:ext cx="1371600" cy="365760"/>
          </a:xfrm>
          <a:prstGeom prst="rect">
            <a:avLst/>
          </a:prstGeom>
          <a:noFill/>
          <a:ln/>
        </p:spPr>
        <p:txBody>
          <a:bodyPr wrap="square" lIns="0" tIns="0" rIns="0" bIns="0" rtlCol="0" anchor="t"/>
          <a:lstStyle/>
          <a:p>
            <a:pPr marL="0" indent="0" algn="ctr">
              <a:buNone/>
            </a:pPr>
            <a:r>
              <a:rPr lang="en-US" sz="1600" b="1" dirty="0">
                <a:solidFill>
                  <a:schemeClr val="tx2"/>
                </a:solidFill>
              </a:rPr>
              <a:t>Źródła</a:t>
            </a:r>
            <a:endParaRPr lang="en-US" sz="1600" dirty="0"/>
          </a:p>
        </p:txBody>
      </p:sp>
      <p:sp>
        <p:nvSpPr>
          <p:cNvPr id="5" name="Text 3"/>
          <p:cNvSpPr txBox="1"/>
          <p:nvPr/>
        </p:nvSpPr>
        <p:spPr>
          <a:xfrm>
            <a:off x="685800" y="1801368"/>
            <a:ext cx="1371600" cy="777240"/>
          </a:xfrm>
          <a:prstGeom prst="rect">
            <a:avLst/>
          </a:prstGeom>
          <a:noFill/>
          <a:ln/>
        </p:spPr>
        <p:txBody>
          <a:bodyPr wrap="square" lIns="0" tIns="0" rIns="0" bIns="0" rtlCol="0" anchor="t"/>
          <a:lstStyle/>
          <a:p>
            <a:pPr marL="0" indent="0" algn="ctr">
              <a:buNone/>
            </a:pPr>
            <a:r>
              <a:rPr lang="en-US" sz="1200" dirty="0">
                <a:solidFill>
                  <a:schemeClr val="tx1"/>
                </a:solidFill>
              </a:rPr>
              <a:t>OSM, dane miejskie, właściciele, użytkownicy</a:t>
            </a:r>
            <a:endParaRPr lang="en-US" sz="1200" dirty="0"/>
          </a:p>
        </p:txBody>
      </p:sp>
      <p:sp>
        <p:nvSpPr>
          <p:cNvPr id="6" name="Strzałka 1"/>
          <p:cNvSpPr/>
          <p:nvPr/>
        </p:nvSpPr>
        <p:spPr>
          <a:xfrm>
            <a:off x="2197578" y="1874520"/>
            <a:ext cx="237744" cy="237744"/>
          </a:xfrm>
          <a:prstGeom prst="rightArrow">
            <a:avLst/>
          </a:prstGeom>
          <a:solidFill>
            <a:schemeClr val="accent6"/>
          </a:solidFill>
          <a:ln w="12700">
            <a:solidFill>
              <a:schemeClr val="accent6"/>
            </a:solidFill>
            <a:prstDash val="solid"/>
          </a:ln>
        </p:spPr>
        <p:txBody>
          <a:bodyPr/>
          <a:lstStyle/>
          <a:p>
            <a:endParaRPr lang="pl-PL"/>
          </a:p>
        </p:txBody>
      </p:sp>
      <p:sp>
        <p:nvSpPr>
          <p:cNvPr id="7" name="Etap: Importery"/>
          <p:cNvSpPr/>
          <p:nvPr/>
        </p:nvSpPr>
        <p:spPr>
          <a:xfrm>
            <a:off x="2438339" y="1325880"/>
            <a:ext cx="1645920" cy="1325880"/>
          </a:xfrm>
          <a:prstGeom prst="roundRect">
            <a:avLst>
              <a:gd name="adj" fmla="val 8276"/>
            </a:avLst>
          </a:prstGeom>
          <a:solidFill>
            <a:schemeClr val="bg2"/>
          </a:solidFill>
          <a:ln w="12700">
            <a:solidFill>
              <a:schemeClr val="bg2"/>
            </a:solidFill>
            <a:prstDash val="solid"/>
          </a:ln>
        </p:spPr>
        <p:txBody>
          <a:bodyPr/>
          <a:lstStyle/>
          <a:p>
            <a:endParaRPr lang="pl-PL"/>
          </a:p>
        </p:txBody>
      </p:sp>
      <p:sp>
        <p:nvSpPr>
          <p:cNvPr id="8" name="Text 6"/>
          <p:cNvSpPr txBox="1"/>
          <p:nvPr/>
        </p:nvSpPr>
        <p:spPr>
          <a:xfrm>
            <a:off x="2575499" y="1417320"/>
            <a:ext cx="1371600" cy="365760"/>
          </a:xfrm>
          <a:prstGeom prst="rect">
            <a:avLst/>
          </a:prstGeom>
          <a:noFill/>
          <a:ln/>
        </p:spPr>
        <p:txBody>
          <a:bodyPr wrap="square" lIns="0" tIns="0" rIns="0" bIns="0" rtlCol="0" anchor="t"/>
          <a:lstStyle/>
          <a:p>
            <a:pPr marL="0" indent="0" algn="ctr">
              <a:buNone/>
            </a:pPr>
            <a:r>
              <a:rPr lang="en-US" sz="1600" b="1" dirty="0">
                <a:solidFill>
                  <a:schemeClr val="tx2"/>
                </a:solidFill>
              </a:rPr>
              <a:t>Importery</a:t>
            </a:r>
            <a:endParaRPr lang="en-US" sz="1600" dirty="0"/>
          </a:p>
        </p:txBody>
      </p:sp>
      <p:sp>
        <p:nvSpPr>
          <p:cNvPr id="9" name="Text 7"/>
          <p:cNvSpPr txBox="1"/>
          <p:nvPr/>
        </p:nvSpPr>
        <p:spPr>
          <a:xfrm>
            <a:off x="2575499" y="1801368"/>
            <a:ext cx="1371600" cy="777240"/>
          </a:xfrm>
          <a:prstGeom prst="rect">
            <a:avLst/>
          </a:prstGeom>
          <a:noFill/>
          <a:ln/>
        </p:spPr>
        <p:txBody>
          <a:bodyPr wrap="square" lIns="0" tIns="0" rIns="0" bIns="0" rtlCol="0" anchor="t"/>
          <a:lstStyle/>
          <a:p>
            <a:pPr marL="0" indent="0" algn="ctr">
              <a:buNone/>
            </a:pPr>
            <a:r>
              <a:rPr lang="en-US" sz="1200" dirty="0">
                <a:solidFill>
                  <a:schemeClr val="tx1"/>
                </a:solidFill>
              </a:rPr>
              <a:t>Osobny na źródło, ze statusem i datą</a:t>
            </a:r>
            <a:endParaRPr lang="en-US" sz="1200" dirty="0"/>
          </a:p>
        </p:txBody>
      </p:sp>
      <p:sp>
        <p:nvSpPr>
          <p:cNvPr id="10" name="Strzałka 2"/>
          <p:cNvSpPr/>
          <p:nvPr/>
        </p:nvSpPr>
        <p:spPr>
          <a:xfrm>
            <a:off x="4087277" y="1874520"/>
            <a:ext cx="237744" cy="237744"/>
          </a:xfrm>
          <a:prstGeom prst="rightArrow">
            <a:avLst/>
          </a:prstGeom>
          <a:solidFill>
            <a:schemeClr val="accent6"/>
          </a:solidFill>
          <a:ln w="12700">
            <a:solidFill>
              <a:schemeClr val="accent6"/>
            </a:solidFill>
            <a:prstDash val="solid"/>
          </a:ln>
        </p:spPr>
        <p:txBody>
          <a:bodyPr/>
          <a:lstStyle/>
          <a:p>
            <a:endParaRPr lang="pl-PL"/>
          </a:p>
        </p:txBody>
      </p:sp>
      <p:sp>
        <p:nvSpPr>
          <p:cNvPr id="11" name="Etap: Fakty"/>
          <p:cNvSpPr/>
          <p:nvPr/>
        </p:nvSpPr>
        <p:spPr>
          <a:xfrm>
            <a:off x="4328038" y="1325880"/>
            <a:ext cx="1645920" cy="1325880"/>
          </a:xfrm>
          <a:prstGeom prst="roundRect">
            <a:avLst>
              <a:gd name="adj" fmla="val 8276"/>
            </a:avLst>
          </a:prstGeom>
          <a:solidFill>
            <a:schemeClr val="accent1"/>
          </a:solidFill>
          <a:ln w="12700">
            <a:solidFill>
              <a:schemeClr val="accent1"/>
            </a:solidFill>
            <a:prstDash val="solid"/>
          </a:ln>
        </p:spPr>
        <p:txBody>
          <a:bodyPr/>
          <a:lstStyle/>
          <a:p>
            <a:endParaRPr lang="pl-PL"/>
          </a:p>
        </p:txBody>
      </p:sp>
      <p:sp>
        <p:nvSpPr>
          <p:cNvPr id="12" name="Text 10"/>
          <p:cNvSpPr txBox="1"/>
          <p:nvPr/>
        </p:nvSpPr>
        <p:spPr>
          <a:xfrm>
            <a:off x="4465198" y="1417320"/>
            <a:ext cx="1371600" cy="365760"/>
          </a:xfrm>
          <a:prstGeom prst="rect">
            <a:avLst/>
          </a:prstGeom>
          <a:noFill/>
          <a:ln/>
        </p:spPr>
        <p:txBody>
          <a:bodyPr wrap="square" lIns="0" tIns="0" rIns="0" bIns="0" rtlCol="0" anchor="t"/>
          <a:lstStyle/>
          <a:p>
            <a:pPr marL="0" indent="0" algn="ctr">
              <a:buNone/>
            </a:pPr>
            <a:r>
              <a:rPr lang="en-US" sz="1600" b="1" dirty="0">
                <a:solidFill>
                  <a:schemeClr val="bg1"/>
                </a:solidFill>
              </a:rPr>
              <a:t>Fakty</a:t>
            </a:r>
            <a:endParaRPr lang="en-US" sz="1600" dirty="0"/>
          </a:p>
        </p:txBody>
      </p:sp>
      <p:sp>
        <p:nvSpPr>
          <p:cNvPr id="13" name="Text 11"/>
          <p:cNvSpPr txBox="1"/>
          <p:nvPr/>
        </p:nvSpPr>
        <p:spPr>
          <a:xfrm>
            <a:off x="4465198" y="1801368"/>
            <a:ext cx="1371600" cy="777240"/>
          </a:xfrm>
          <a:prstGeom prst="rect">
            <a:avLst/>
          </a:prstGeom>
          <a:noFill/>
          <a:ln/>
        </p:spPr>
        <p:txBody>
          <a:bodyPr wrap="square" lIns="0" tIns="0" rIns="0" bIns="0" rtlCol="0" anchor="t"/>
          <a:lstStyle/>
          <a:p>
            <a:pPr marL="0" indent="0" algn="ctr">
              <a:buNone/>
            </a:pPr>
            <a:r>
              <a:rPr lang="en-US" sz="1200" dirty="0">
                <a:solidFill>
                  <a:schemeClr val="bg1"/>
                </a:solidFill>
              </a:rPr>
              <a:t>Parametr, wartość, źródło, data</a:t>
            </a:r>
            <a:endParaRPr lang="en-US" sz="1200" dirty="0"/>
          </a:p>
        </p:txBody>
      </p:sp>
      <p:sp>
        <p:nvSpPr>
          <p:cNvPr id="14" name="Strzałka 3"/>
          <p:cNvSpPr/>
          <p:nvPr/>
        </p:nvSpPr>
        <p:spPr>
          <a:xfrm>
            <a:off x="5976976" y="1874520"/>
            <a:ext cx="237744" cy="237744"/>
          </a:xfrm>
          <a:prstGeom prst="rightArrow">
            <a:avLst/>
          </a:prstGeom>
          <a:solidFill>
            <a:schemeClr val="accent6"/>
          </a:solidFill>
          <a:ln w="12700">
            <a:solidFill>
              <a:schemeClr val="accent6"/>
            </a:solidFill>
            <a:prstDash val="solid"/>
          </a:ln>
        </p:spPr>
        <p:txBody>
          <a:bodyPr/>
          <a:lstStyle/>
          <a:p>
            <a:endParaRPr lang="pl-PL"/>
          </a:p>
        </p:txBody>
      </p:sp>
      <p:sp>
        <p:nvSpPr>
          <p:cNvPr id="15" name="Etap: Wiarygodność"/>
          <p:cNvSpPr/>
          <p:nvPr/>
        </p:nvSpPr>
        <p:spPr>
          <a:xfrm>
            <a:off x="6217737" y="1325880"/>
            <a:ext cx="1645920" cy="1325880"/>
          </a:xfrm>
          <a:prstGeom prst="roundRect">
            <a:avLst>
              <a:gd name="adj" fmla="val 8276"/>
            </a:avLst>
          </a:prstGeom>
          <a:solidFill>
            <a:schemeClr val="accent1"/>
          </a:solidFill>
          <a:ln w="12700">
            <a:solidFill>
              <a:schemeClr val="accent1"/>
            </a:solidFill>
            <a:prstDash val="solid"/>
          </a:ln>
        </p:spPr>
        <p:txBody>
          <a:bodyPr/>
          <a:lstStyle/>
          <a:p>
            <a:endParaRPr lang="pl-PL"/>
          </a:p>
        </p:txBody>
      </p:sp>
      <p:sp>
        <p:nvSpPr>
          <p:cNvPr id="16" name="Text 14"/>
          <p:cNvSpPr txBox="1"/>
          <p:nvPr/>
        </p:nvSpPr>
        <p:spPr>
          <a:xfrm>
            <a:off x="6354897" y="1417320"/>
            <a:ext cx="1371600" cy="365760"/>
          </a:xfrm>
          <a:prstGeom prst="rect">
            <a:avLst/>
          </a:prstGeom>
          <a:noFill/>
          <a:ln/>
        </p:spPr>
        <p:txBody>
          <a:bodyPr wrap="square" lIns="0" tIns="0" rIns="0" bIns="0" rtlCol="0" anchor="t"/>
          <a:lstStyle/>
          <a:p>
            <a:pPr marL="0" indent="0" algn="ctr">
              <a:buNone/>
            </a:pPr>
            <a:r>
              <a:rPr lang="en-US" sz="1600" b="1" dirty="0">
                <a:solidFill>
                  <a:schemeClr val="bg1"/>
                </a:solidFill>
              </a:rPr>
              <a:t>Wiarygodność</a:t>
            </a:r>
            <a:endParaRPr lang="en-US" sz="1600" dirty="0"/>
          </a:p>
        </p:txBody>
      </p:sp>
      <p:sp>
        <p:nvSpPr>
          <p:cNvPr id="17" name="Text 15"/>
          <p:cNvSpPr txBox="1"/>
          <p:nvPr/>
        </p:nvSpPr>
        <p:spPr>
          <a:xfrm>
            <a:off x="6354897" y="1801368"/>
            <a:ext cx="1371600" cy="777240"/>
          </a:xfrm>
          <a:prstGeom prst="rect">
            <a:avLst/>
          </a:prstGeom>
          <a:noFill/>
          <a:ln/>
        </p:spPr>
        <p:txBody>
          <a:bodyPr wrap="square" lIns="0" tIns="0" rIns="0" bIns="0" rtlCol="0" anchor="t"/>
          <a:lstStyle/>
          <a:p>
            <a:pPr marL="0" indent="0" algn="ctr">
              <a:buNone/>
            </a:pPr>
            <a:r>
              <a:rPr lang="en-US" sz="1200" dirty="0">
                <a:solidFill>
                  <a:schemeClr val="bg1"/>
                </a:solidFill>
              </a:rPr>
              <a:t>Konflikty, wiek, ranking źródeł</a:t>
            </a:r>
            <a:endParaRPr lang="en-US" sz="1200" dirty="0"/>
          </a:p>
        </p:txBody>
      </p:sp>
      <p:sp>
        <p:nvSpPr>
          <p:cNvPr id="18" name="Strzałka 4"/>
          <p:cNvSpPr/>
          <p:nvPr/>
        </p:nvSpPr>
        <p:spPr>
          <a:xfrm>
            <a:off x="7866675" y="1874520"/>
            <a:ext cx="237744" cy="237744"/>
          </a:xfrm>
          <a:prstGeom prst="rightArrow">
            <a:avLst/>
          </a:prstGeom>
          <a:solidFill>
            <a:schemeClr val="accent6"/>
          </a:solidFill>
          <a:ln w="12700">
            <a:solidFill>
              <a:schemeClr val="accent6"/>
            </a:solidFill>
            <a:prstDash val="solid"/>
          </a:ln>
        </p:spPr>
        <p:txBody>
          <a:bodyPr/>
          <a:lstStyle/>
          <a:p>
            <a:endParaRPr lang="pl-PL"/>
          </a:p>
        </p:txBody>
      </p:sp>
      <p:sp>
        <p:nvSpPr>
          <p:cNvPr id="19" name="Etap: API"/>
          <p:cNvSpPr/>
          <p:nvPr/>
        </p:nvSpPr>
        <p:spPr>
          <a:xfrm>
            <a:off x="8107436" y="1325880"/>
            <a:ext cx="1645920" cy="1325880"/>
          </a:xfrm>
          <a:prstGeom prst="roundRect">
            <a:avLst>
              <a:gd name="adj" fmla="val 8276"/>
            </a:avLst>
          </a:prstGeom>
          <a:solidFill>
            <a:schemeClr val="bg2"/>
          </a:solidFill>
          <a:ln w="12700">
            <a:solidFill>
              <a:schemeClr val="bg2"/>
            </a:solidFill>
            <a:prstDash val="solid"/>
          </a:ln>
        </p:spPr>
        <p:txBody>
          <a:bodyPr/>
          <a:lstStyle/>
          <a:p>
            <a:endParaRPr lang="pl-PL"/>
          </a:p>
        </p:txBody>
      </p:sp>
      <p:sp>
        <p:nvSpPr>
          <p:cNvPr id="20" name="Text 18"/>
          <p:cNvSpPr txBox="1"/>
          <p:nvPr/>
        </p:nvSpPr>
        <p:spPr>
          <a:xfrm>
            <a:off x="8244596" y="1417320"/>
            <a:ext cx="1371600" cy="365760"/>
          </a:xfrm>
          <a:prstGeom prst="rect">
            <a:avLst/>
          </a:prstGeom>
          <a:noFill/>
          <a:ln/>
        </p:spPr>
        <p:txBody>
          <a:bodyPr wrap="square" lIns="0" tIns="0" rIns="0" bIns="0" rtlCol="0" anchor="t"/>
          <a:lstStyle/>
          <a:p>
            <a:pPr marL="0" indent="0" algn="ctr">
              <a:buNone/>
            </a:pPr>
            <a:r>
              <a:rPr lang="en-US" sz="1600" b="1" dirty="0">
                <a:solidFill>
                  <a:schemeClr val="tx2"/>
                </a:solidFill>
              </a:rPr>
              <a:t>API</a:t>
            </a:r>
            <a:endParaRPr lang="en-US" sz="1600" dirty="0"/>
          </a:p>
        </p:txBody>
      </p:sp>
      <p:sp>
        <p:nvSpPr>
          <p:cNvPr id="21" name="Text 19"/>
          <p:cNvSpPr txBox="1"/>
          <p:nvPr/>
        </p:nvSpPr>
        <p:spPr>
          <a:xfrm>
            <a:off x="8244596" y="1801368"/>
            <a:ext cx="1371600" cy="777240"/>
          </a:xfrm>
          <a:prstGeom prst="rect">
            <a:avLst/>
          </a:prstGeom>
          <a:noFill/>
          <a:ln/>
        </p:spPr>
        <p:txBody>
          <a:bodyPr wrap="square" lIns="0" tIns="0" rIns="0" bIns="0" rtlCol="0" anchor="t"/>
          <a:lstStyle/>
          <a:p>
            <a:pPr marL="0" indent="0" algn="ctr">
              <a:buNone/>
            </a:pPr>
            <a:r>
              <a:rPr lang="en-US" sz="1200" dirty="0">
                <a:solidFill>
                  <a:schemeClr val="tx1"/>
                </a:solidFill>
              </a:rPr>
              <a:t>Miejsca, trasy, historia, zgłoszenia</a:t>
            </a:r>
            <a:endParaRPr lang="en-US" sz="1200" dirty="0"/>
          </a:p>
        </p:txBody>
      </p:sp>
      <p:sp>
        <p:nvSpPr>
          <p:cNvPr id="22" name="Strzałka 5"/>
          <p:cNvSpPr/>
          <p:nvPr/>
        </p:nvSpPr>
        <p:spPr>
          <a:xfrm>
            <a:off x="9756374" y="1874520"/>
            <a:ext cx="237744" cy="237744"/>
          </a:xfrm>
          <a:prstGeom prst="rightArrow">
            <a:avLst/>
          </a:prstGeom>
          <a:solidFill>
            <a:schemeClr val="accent6"/>
          </a:solidFill>
          <a:ln w="12700">
            <a:solidFill>
              <a:schemeClr val="accent6"/>
            </a:solidFill>
            <a:prstDash val="solid"/>
          </a:ln>
        </p:spPr>
        <p:txBody>
          <a:bodyPr/>
          <a:lstStyle/>
          <a:p>
            <a:endParaRPr lang="pl-PL"/>
          </a:p>
        </p:txBody>
      </p:sp>
      <p:sp>
        <p:nvSpPr>
          <p:cNvPr id="23" name="Etap: Prezentacja"/>
          <p:cNvSpPr/>
          <p:nvPr/>
        </p:nvSpPr>
        <p:spPr>
          <a:xfrm>
            <a:off x="9997135" y="1325880"/>
            <a:ext cx="1645920" cy="1325880"/>
          </a:xfrm>
          <a:prstGeom prst="roundRect">
            <a:avLst>
              <a:gd name="adj" fmla="val 8276"/>
            </a:avLst>
          </a:prstGeom>
          <a:solidFill>
            <a:schemeClr val="bg2"/>
          </a:solidFill>
          <a:ln w="12700">
            <a:solidFill>
              <a:schemeClr val="bg2"/>
            </a:solidFill>
            <a:prstDash val="solid"/>
          </a:ln>
        </p:spPr>
        <p:txBody>
          <a:bodyPr/>
          <a:lstStyle/>
          <a:p>
            <a:endParaRPr lang="pl-PL"/>
          </a:p>
        </p:txBody>
      </p:sp>
      <p:sp>
        <p:nvSpPr>
          <p:cNvPr id="24" name="Text 22"/>
          <p:cNvSpPr txBox="1"/>
          <p:nvPr/>
        </p:nvSpPr>
        <p:spPr>
          <a:xfrm>
            <a:off x="10134295" y="1417320"/>
            <a:ext cx="1371600" cy="365760"/>
          </a:xfrm>
          <a:prstGeom prst="rect">
            <a:avLst/>
          </a:prstGeom>
          <a:noFill/>
          <a:ln/>
        </p:spPr>
        <p:txBody>
          <a:bodyPr wrap="square" lIns="0" tIns="0" rIns="0" bIns="0" rtlCol="0" anchor="t"/>
          <a:lstStyle/>
          <a:p>
            <a:pPr marL="0" indent="0" algn="ctr">
              <a:buNone/>
            </a:pPr>
            <a:r>
              <a:rPr lang="en-US" sz="1600" b="1" dirty="0">
                <a:solidFill>
                  <a:schemeClr val="tx2"/>
                </a:solidFill>
              </a:rPr>
              <a:t>Prezentacja</a:t>
            </a:r>
            <a:endParaRPr lang="en-US" sz="1600" dirty="0"/>
          </a:p>
        </p:txBody>
      </p:sp>
      <p:sp>
        <p:nvSpPr>
          <p:cNvPr id="25" name="Text 23"/>
          <p:cNvSpPr txBox="1"/>
          <p:nvPr/>
        </p:nvSpPr>
        <p:spPr>
          <a:xfrm>
            <a:off x="10134295" y="1801368"/>
            <a:ext cx="1371600" cy="777240"/>
          </a:xfrm>
          <a:prstGeom prst="rect">
            <a:avLst/>
          </a:prstGeom>
          <a:noFill/>
          <a:ln/>
        </p:spPr>
        <p:txBody>
          <a:bodyPr wrap="square" lIns="0" tIns="0" rIns="0" bIns="0" rtlCol="0" anchor="t"/>
          <a:lstStyle/>
          <a:p>
            <a:pPr marL="0" indent="0" algn="ctr">
              <a:buNone/>
            </a:pPr>
            <a:r>
              <a:rPr lang="en-US" sz="1200" dirty="0">
                <a:solidFill>
                  <a:schemeClr val="tx1"/>
                </a:solidFill>
              </a:rPr>
              <a:t>Strona, widget, API partnerów</a:t>
            </a:r>
            <a:endParaRPr lang="en-US" sz="1200" dirty="0"/>
          </a:p>
        </p:txBody>
      </p:sp>
      <p:graphicFrame>
        <p:nvGraphicFramePr>
          <p:cNvPr id="26" name="Tabela źródeł danych"/>
          <p:cNvGraphicFramePr>
            <a:graphicFrameLocks noGrp="1"/>
          </p:cNvGraphicFramePr>
          <p:nvPr>
            <p:extLst>
              <p:ext uri="{D42A27DB-BD31-4B8C-83A1-F6EECF244321}">
                <p14:modId xmlns:p14="http://schemas.microsoft.com/office/powerpoint/2010/main" val="1579011935"/>
              </p:ext>
            </p:extLst>
          </p:nvPr>
        </p:nvGraphicFramePr>
        <p:xfrm>
          <a:off x="548640" y="2971800"/>
          <a:ext cx="7498080" cy="2633472"/>
        </p:xfrm>
        <a:graphic>
          <a:graphicData uri="http://schemas.openxmlformats.org/drawingml/2006/table">
            <a:tbl>
              <a:tblPr/>
              <a:tblGrid>
                <a:gridCol w="155448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tblGrid>
              <a:tr h="347472">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Źródło</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Jak pobieramy</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Odświeżanie (docelowo)</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Licencja</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Calibri" pitchFamily="34" charset="0"/>
                          <a:ea typeface="Calibri" pitchFamily="34" charset="-122"/>
                          <a:cs typeface="Calibri" pitchFamily="34" charset="-120"/>
                        </a:rPr>
                        <a:t>Status domyślny</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OpenStreetMap</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Ekstrakt regionu z Geofabrik, filtr osmium; trasy: GraphHopper</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co 24 h</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ODbL 1.0</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Z otwartych danych</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Otwarte Dane Krakowa, MSIP</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Konektor gotowy; brak zbioru z atrybutami dostępności</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co tydzień</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wg zbioru</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Z otwartych danych</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Właściciele obiektów</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Potwierdzenie przez obiekt (w prototypie: panel administracyjny)</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na bieżąco, co 12 mies.</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umowa z obiektem</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Potwierdzone</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Użytkownicy</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Formularz bez konta, moderacja</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na bieżąco</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CC BY-SA 4.0</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tc>
                  <a:txBody>
                    <a:bodyPr/>
                    <a:lstStyle/>
                    <a:p>
                      <a:pPr marL="0" indent="0">
                        <a:buNone/>
                      </a:pPr>
                      <a:r>
                        <a:rPr lang="en-US" sz="1200" dirty="0">
                          <a:solidFill>
                            <a:schemeClr val="tx1"/>
                          </a:solidFill>
                          <a:latin typeface="Calibri" pitchFamily="34" charset="0"/>
                          <a:ea typeface="Calibri" pitchFamily="34" charset="-122"/>
                          <a:cs typeface="Calibri" pitchFamily="34" charset="-120"/>
                        </a:rPr>
                        <a:t>Zgłoszenie użytkownika</a:t>
                      </a:r>
                      <a:endParaRPr lang="en-US" sz="1200" dirty="0">
                        <a:latin typeface="Calibri" charset="0"/>
                        <a:ea typeface="Calibri" charset="0"/>
                        <a:cs typeface="Calibri" charset="0"/>
                      </a:endParaRPr>
                    </a:p>
                  </a:txBody>
                  <a:tcPr marL="73152" marR="73152"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7" name="Kolejne miasto"/>
          <p:cNvSpPr/>
          <p:nvPr/>
        </p:nvSpPr>
        <p:spPr>
          <a:xfrm>
            <a:off x="8321040" y="2971800"/>
            <a:ext cx="3322015" cy="2514600"/>
          </a:xfrm>
          <a:prstGeom prst="roundRect">
            <a:avLst>
              <a:gd name="adj" fmla="val 4364"/>
            </a:avLst>
          </a:prstGeom>
          <a:solidFill>
            <a:schemeClr val="bg2"/>
          </a:solidFill>
          <a:ln w="12700">
            <a:solidFill>
              <a:schemeClr val="bg2"/>
            </a:solidFill>
            <a:prstDash val="solid"/>
          </a:ln>
        </p:spPr>
        <p:txBody>
          <a:bodyPr/>
          <a:lstStyle/>
          <a:p>
            <a:endParaRPr lang="pl-PL"/>
          </a:p>
        </p:txBody>
      </p:sp>
      <p:sp>
        <p:nvSpPr>
          <p:cNvPr id="28" name="Kolejne miasto – tło"/>
          <p:cNvSpPr/>
          <p:nvPr/>
        </p:nvSpPr>
        <p:spPr>
          <a:xfrm>
            <a:off x="8549640" y="3154680"/>
            <a:ext cx="548640" cy="548640"/>
          </a:xfrm>
          <a:prstGeom prst="ellipse">
            <a:avLst/>
          </a:prstGeom>
          <a:solidFill>
            <a:schemeClr val="accent1"/>
          </a:solidFill>
          <a:ln w="12700">
            <a:solidFill>
              <a:schemeClr val="accent1"/>
            </a:solidFill>
            <a:prstDash val="solid"/>
          </a:ln>
        </p:spPr>
        <p:txBody>
          <a:bodyPr/>
          <a:lstStyle/>
          <a:p>
            <a:endParaRPr lang="pl-PL"/>
          </a:p>
        </p:txBody>
      </p:sp>
      <p:pic>
        <p:nvPicPr>
          <p:cNvPr id="29" name="Kolejne miasto" descr="Kolejne miasto"/>
          <p:cNvPicPr>
            <a:picLocks noChangeAspect="1"/>
          </p:cNvPicPr>
          <p:nvPr/>
        </p:nvPicPr>
        <p:blipFill>
          <a:blip r:embed="rId3"/>
          <a:stretch>
            <a:fillRect/>
          </a:stretch>
        </p:blipFill>
        <p:spPr>
          <a:xfrm>
            <a:off x="8686800" y="3291840"/>
            <a:ext cx="274320" cy="274320"/>
          </a:xfrm>
          <a:prstGeom prst="rect">
            <a:avLst/>
          </a:prstGeom>
        </p:spPr>
      </p:pic>
      <p:sp>
        <p:nvSpPr>
          <p:cNvPr id="30" name="Text 26"/>
          <p:cNvSpPr txBox="1"/>
          <p:nvPr/>
        </p:nvSpPr>
        <p:spPr>
          <a:xfrm>
            <a:off x="9235440" y="3154680"/>
            <a:ext cx="2270455" cy="548640"/>
          </a:xfrm>
          <a:prstGeom prst="rect">
            <a:avLst/>
          </a:prstGeom>
          <a:noFill/>
          <a:ln/>
        </p:spPr>
        <p:txBody>
          <a:bodyPr wrap="square" lIns="0" tIns="0" rIns="0" bIns="0" rtlCol="0" anchor="ctr"/>
          <a:lstStyle/>
          <a:p>
            <a:pPr marL="0" indent="0">
              <a:buNone/>
            </a:pPr>
            <a:r>
              <a:rPr lang="en-US" sz="1600" b="1" dirty="0">
                <a:solidFill>
                  <a:schemeClr val="tx2"/>
                </a:solidFill>
              </a:rPr>
              <a:t>Kolejne miasto = jedno polecenie</a:t>
            </a:r>
            <a:endParaRPr lang="en-US" sz="1600" dirty="0"/>
          </a:p>
        </p:txBody>
      </p:sp>
      <p:sp>
        <p:nvSpPr>
          <p:cNvPr id="31" name="Text 27"/>
          <p:cNvSpPr txBox="1"/>
          <p:nvPr/>
        </p:nvSpPr>
        <p:spPr>
          <a:xfrm>
            <a:off x="8549640" y="3840480"/>
            <a:ext cx="2864815" cy="1554480"/>
          </a:xfrm>
          <a:prstGeom prst="rect">
            <a:avLst/>
          </a:prstGeom>
          <a:noFill/>
          <a:ln/>
        </p:spPr>
        <p:txBody>
          <a:bodyPr wrap="square" lIns="0" tIns="0" rIns="0" bIns="0" rtlCol="0" anchor="t"/>
          <a:lstStyle/>
          <a:p>
            <a:pPr marL="0" indent="0">
              <a:buNone/>
            </a:pPr>
            <a:r>
              <a:rPr lang="en-US" sz="1400" dirty="0">
                <a:solidFill>
                  <a:schemeClr val="tx1"/>
                </a:solidFill>
              </a:rPr>
              <a:t>Import z nowym obszarem i regionem Geofabrik. Centrum Krakowa: 1951 miejsc w ok. 10 s. Nowe źródło to nowy importer; nowa kategoria to wpis w katalogu. Kod prezentacji bez zmian.</a:t>
            </a:r>
            <a:endParaRPr lang="en-US" sz="1400" dirty="0"/>
          </a:p>
        </p:txBody>
      </p:sp>
      <p:sp>
        <p:nvSpPr>
          <p:cNvPr id="32" name="Text 28"/>
          <p:cNvSpPr txBox="1"/>
          <p:nvPr/>
        </p:nvSpPr>
        <p:spPr>
          <a:xfrm>
            <a:off x="8321040" y="5623560"/>
            <a:ext cx="3322015" cy="502920"/>
          </a:xfrm>
          <a:prstGeom prst="rect">
            <a:avLst/>
          </a:prstGeom>
          <a:noFill/>
          <a:ln/>
        </p:spPr>
        <p:txBody>
          <a:bodyPr wrap="square" lIns="0" tIns="0" rIns="0" bIns="0" rtlCol="0" anchor="t"/>
          <a:lstStyle/>
          <a:p>
            <a:pPr marL="0" indent="0">
              <a:buNone/>
            </a:pPr>
            <a:r>
              <a:rPr lang="en-US" sz="1300" b="1" dirty="0">
                <a:solidFill>
                  <a:schemeClr val="accent1"/>
                </a:solidFill>
              </a:rPr>
              <a:t>Bez dostępu do systemów UMK i MJO. Miasto nie utrzymuje bazy ręcznie.</a:t>
            </a:r>
            <a:endParaRPr lang="en-US" sz="1300" dirty="0"/>
          </a:p>
        </p:txBody>
      </p:sp>
      <p:sp>
        <p:nvSpPr>
          <p:cNvPr id="3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Darmowe dla użytkowników, płatne dla obiektów i platform</a:t>
            </a:r>
            <a:endParaRPr lang="en-US" sz="3000" dirty="0"/>
          </a:p>
        </p:txBody>
      </p:sp>
      <p:sp>
        <p:nvSpPr>
          <p:cNvPr id="3" name="Tło widgetu"/>
          <p:cNvSpPr/>
          <p:nvPr/>
        </p:nvSpPr>
        <p:spPr>
          <a:xfrm>
            <a:off x="548640" y="1280160"/>
            <a:ext cx="4114800" cy="5073211"/>
          </a:xfrm>
          <a:prstGeom prst="roundRect">
            <a:avLst>
              <a:gd name="adj" fmla="val 3333"/>
            </a:avLst>
          </a:prstGeom>
          <a:solidFill>
            <a:schemeClr val="bg2"/>
          </a:solidFill>
          <a:ln w="12700">
            <a:solidFill>
              <a:schemeClr val="bg2"/>
            </a:solidFill>
            <a:prstDash val="solid"/>
          </a:ln>
        </p:spPr>
        <p:txBody>
          <a:bodyPr/>
          <a:lstStyle/>
          <a:p>
            <a:endParaRPr lang="pl-PL"/>
          </a:p>
        </p:txBody>
      </p:sp>
      <p:pic>
        <p:nvPicPr>
          <p:cNvPr id="4" name="Widget na stronie hotelu" descr="Widget BezProgu osadzony na przykładowej stronie hotelu: podsumowanie dopasowania i najważniejsze parametry Sukiennic"/>
          <p:cNvPicPr>
            <a:picLocks noChangeAspect="1"/>
          </p:cNvPicPr>
          <p:nvPr/>
        </p:nvPicPr>
        <p:blipFill>
          <a:blip r:embed="rId3"/>
          <a:stretch>
            <a:fillRect/>
          </a:stretch>
        </p:blipFill>
        <p:spPr>
          <a:xfrm>
            <a:off x="731520" y="1463040"/>
            <a:ext cx="3749040" cy="4204531"/>
          </a:xfrm>
          <a:prstGeom prst="rect">
            <a:avLst/>
          </a:prstGeom>
        </p:spPr>
      </p:pic>
      <p:sp>
        <p:nvSpPr>
          <p:cNvPr id="5" name="Text 2"/>
          <p:cNvSpPr txBox="1"/>
          <p:nvPr/>
        </p:nvSpPr>
        <p:spPr>
          <a:xfrm>
            <a:off x="731520" y="5777299"/>
            <a:ext cx="3749040" cy="594360"/>
          </a:xfrm>
          <a:prstGeom prst="rect">
            <a:avLst/>
          </a:prstGeom>
          <a:noFill/>
          <a:ln/>
        </p:spPr>
        <p:txBody>
          <a:bodyPr wrap="square" lIns="0" tIns="0" rIns="0" bIns="0" rtlCol="0" anchor="t"/>
          <a:lstStyle/>
          <a:p>
            <a:pPr marL="0" indent="0">
              <a:buNone/>
            </a:pPr>
            <a:r>
              <a:rPr lang="en-US" sz="1300" dirty="0">
                <a:solidFill>
                  <a:schemeClr val="tx2"/>
                </a:solidFill>
              </a:rPr>
              <a:t>Widget na stronie hotelu: gość widzi bariery przed rezerwacją, w wersji dla wózka i wózka dziecięcego.</a:t>
            </a:r>
            <a:endParaRPr lang="en-US" sz="1300" dirty="0"/>
          </a:p>
        </p:txBody>
      </p:sp>
      <p:sp>
        <p:nvSpPr>
          <p:cNvPr id="6" name="Plan Użytkownicy"/>
          <p:cNvSpPr/>
          <p:nvPr/>
        </p:nvSpPr>
        <p:spPr>
          <a:xfrm>
            <a:off x="5074920" y="1280160"/>
            <a:ext cx="6568135" cy="822960"/>
          </a:xfrm>
          <a:prstGeom prst="roundRect">
            <a:avLst>
              <a:gd name="adj" fmla="val 13333"/>
            </a:avLst>
          </a:prstGeom>
          <a:solidFill>
            <a:schemeClr val="bg2"/>
          </a:solidFill>
          <a:ln w="12700">
            <a:solidFill>
              <a:schemeClr val="bg2"/>
            </a:solidFill>
            <a:prstDash val="solid"/>
          </a:ln>
        </p:spPr>
        <p:txBody>
          <a:bodyPr/>
          <a:lstStyle/>
          <a:p>
            <a:endParaRPr lang="pl-PL"/>
          </a:p>
        </p:txBody>
      </p:sp>
      <p:sp>
        <p:nvSpPr>
          <p:cNvPr id="7" name="Text 4"/>
          <p:cNvSpPr txBox="1"/>
          <p:nvPr/>
        </p:nvSpPr>
        <p:spPr>
          <a:xfrm>
            <a:off x="5303520" y="1371600"/>
            <a:ext cx="3291840" cy="329184"/>
          </a:xfrm>
          <a:prstGeom prst="rect">
            <a:avLst/>
          </a:prstGeom>
          <a:noFill/>
          <a:ln/>
        </p:spPr>
        <p:txBody>
          <a:bodyPr wrap="square" lIns="0" tIns="0" rIns="0" bIns="0" rtlCol="0" anchor="t"/>
          <a:lstStyle/>
          <a:p>
            <a:pPr marL="0" indent="0">
              <a:buNone/>
            </a:pPr>
            <a:r>
              <a:rPr lang="en-US" sz="1600" b="1" dirty="0">
                <a:solidFill>
                  <a:schemeClr val="tx2"/>
                </a:solidFill>
              </a:rPr>
              <a:t>Użytkownicy</a:t>
            </a:r>
            <a:endParaRPr lang="en-US" sz="1600" dirty="0"/>
          </a:p>
        </p:txBody>
      </p:sp>
      <p:sp>
        <p:nvSpPr>
          <p:cNvPr id="8" name="Text 5"/>
          <p:cNvSpPr txBox="1"/>
          <p:nvPr/>
        </p:nvSpPr>
        <p:spPr>
          <a:xfrm>
            <a:off x="5303520" y="1709928"/>
            <a:ext cx="4389120" cy="329184"/>
          </a:xfrm>
          <a:prstGeom prst="rect">
            <a:avLst/>
          </a:prstGeom>
          <a:noFill/>
          <a:ln/>
        </p:spPr>
        <p:txBody>
          <a:bodyPr wrap="square" lIns="0" tIns="0" rIns="0" bIns="0" rtlCol="0" anchor="t"/>
          <a:lstStyle/>
          <a:p>
            <a:pPr marL="0" indent="0">
              <a:buNone/>
            </a:pPr>
            <a:r>
              <a:rPr lang="en-US" sz="1300" dirty="0">
                <a:solidFill>
                  <a:schemeClr val="tx1"/>
                </a:solidFill>
              </a:rPr>
              <a:t>Zawsze za darmo: wyszukiwanie, trasy, zgłoszenia</a:t>
            </a:r>
            <a:endParaRPr lang="en-US" sz="1300" dirty="0"/>
          </a:p>
        </p:txBody>
      </p:sp>
      <p:sp>
        <p:nvSpPr>
          <p:cNvPr id="9" name="Text 6"/>
          <p:cNvSpPr txBox="1"/>
          <p:nvPr/>
        </p:nvSpPr>
        <p:spPr>
          <a:xfrm>
            <a:off x="9539935" y="1371600"/>
            <a:ext cx="1874520" cy="640080"/>
          </a:xfrm>
          <a:prstGeom prst="rect">
            <a:avLst/>
          </a:prstGeom>
          <a:noFill/>
          <a:ln/>
        </p:spPr>
        <p:txBody>
          <a:bodyPr wrap="square" lIns="0" tIns="0" rIns="0" bIns="0" rtlCol="0" anchor="ctr"/>
          <a:lstStyle/>
          <a:p>
            <a:pPr marL="0" indent="0" algn="r">
              <a:buNone/>
            </a:pPr>
            <a:r>
              <a:rPr lang="en-US" sz="2000" b="1" dirty="0">
                <a:solidFill>
                  <a:schemeClr val="accent3"/>
                </a:solidFill>
              </a:rPr>
              <a:t>0 zł</a:t>
            </a:r>
            <a:endParaRPr lang="en-US" sz="2000" dirty="0"/>
          </a:p>
        </p:txBody>
      </p:sp>
      <p:sp>
        <p:nvSpPr>
          <p:cNvPr id="10" name="Plan Obiekt Podstawowy"/>
          <p:cNvSpPr/>
          <p:nvPr/>
        </p:nvSpPr>
        <p:spPr>
          <a:xfrm>
            <a:off x="5074920" y="2212848"/>
            <a:ext cx="6568135" cy="822960"/>
          </a:xfrm>
          <a:prstGeom prst="roundRect">
            <a:avLst>
              <a:gd name="adj" fmla="val 13333"/>
            </a:avLst>
          </a:prstGeom>
          <a:solidFill>
            <a:schemeClr val="bg2"/>
          </a:solidFill>
          <a:ln w="12700">
            <a:solidFill>
              <a:schemeClr val="bg2"/>
            </a:solidFill>
            <a:prstDash val="solid"/>
          </a:ln>
        </p:spPr>
        <p:txBody>
          <a:bodyPr/>
          <a:lstStyle/>
          <a:p>
            <a:endParaRPr lang="pl-PL"/>
          </a:p>
        </p:txBody>
      </p:sp>
      <p:sp>
        <p:nvSpPr>
          <p:cNvPr id="11" name="Text 8"/>
          <p:cNvSpPr txBox="1"/>
          <p:nvPr/>
        </p:nvSpPr>
        <p:spPr>
          <a:xfrm>
            <a:off x="5303520" y="2304288"/>
            <a:ext cx="3291840" cy="329184"/>
          </a:xfrm>
          <a:prstGeom prst="rect">
            <a:avLst/>
          </a:prstGeom>
          <a:noFill/>
          <a:ln/>
        </p:spPr>
        <p:txBody>
          <a:bodyPr wrap="square" lIns="0" tIns="0" rIns="0" bIns="0" rtlCol="0" anchor="t"/>
          <a:lstStyle/>
          <a:p>
            <a:pPr marL="0" indent="0">
              <a:buNone/>
            </a:pPr>
            <a:r>
              <a:rPr lang="en-US" sz="1600" b="1" dirty="0">
                <a:solidFill>
                  <a:schemeClr val="tx2"/>
                </a:solidFill>
              </a:rPr>
              <a:t>Obiekt Podstawowy</a:t>
            </a:r>
            <a:endParaRPr lang="en-US" sz="1600" dirty="0"/>
          </a:p>
        </p:txBody>
      </p:sp>
      <p:sp>
        <p:nvSpPr>
          <p:cNvPr id="12" name="Text 9"/>
          <p:cNvSpPr txBox="1"/>
          <p:nvPr/>
        </p:nvSpPr>
        <p:spPr>
          <a:xfrm>
            <a:off x="5303520" y="2642616"/>
            <a:ext cx="4389120" cy="329184"/>
          </a:xfrm>
          <a:prstGeom prst="rect">
            <a:avLst/>
          </a:prstGeom>
          <a:noFill/>
          <a:ln/>
        </p:spPr>
        <p:txBody>
          <a:bodyPr wrap="square" lIns="0" tIns="0" rIns="0" bIns="0" rtlCol="0" anchor="t"/>
          <a:lstStyle/>
          <a:p>
            <a:pPr marL="0" indent="0">
              <a:buNone/>
            </a:pPr>
            <a:r>
              <a:rPr lang="en-US" sz="1300" dirty="0">
                <a:solidFill>
                  <a:schemeClr val="tx1"/>
                </a:solidFill>
              </a:rPr>
              <a:t>Potwierdzenie własnych danych, karta w katalogu</a:t>
            </a:r>
            <a:endParaRPr lang="en-US" sz="1300" dirty="0"/>
          </a:p>
        </p:txBody>
      </p:sp>
      <p:sp>
        <p:nvSpPr>
          <p:cNvPr id="13" name="Text 10"/>
          <p:cNvSpPr txBox="1"/>
          <p:nvPr/>
        </p:nvSpPr>
        <p:spPr>
          <a:xfrm>
            <a:off x="9539935" y="2304288"/>
            <a:ext cx="1874520" cy="640080"/>
          </a:xfrm>
          <a:prstGeom prst="rect">
            <a:avLst/>
          </a:prstGeom>
          <a:noFill/>
          <a:ln/>
        </p:spPr>
        <p:txBody>
          <a:bodyPr wrap="square" lIns="0" tIns="0" rIns="0" bIns="0" rtlCol="0" anchor="ctr"/>
          <a:lstStyle/>
          <a:p>
            <a:pPr marL="0" indent="0" algn="r">
              <a:buNone/>
            </a:pPr>
            <a:r>
              <a:rPr lang="en-US" sz="2000" b="1" dirty="0">
                <a:solidFill>
                  <a:schemeClr val="accent3"/>
                </a:solidFill>
              </a:rPr>
              <a:t>0 zł</a:t>
            </a:r>
            <a:endParaRPr lang="en-US" sz="2000" dirty="0"/>
          </a:p>
        </p:txBody>
      </p:sp>
      <p:sp>
        <p:nvSpPr>
          <p:cNvPr id="14" name="Plan Obiekt Pro"/>
          <p:cNvSpPr/>
          <p:nvPr/>
        </p:nvSpPr>
        <p:spPr>
          <a:xfrm>
            <a:off x="5074920" y="3145536"/>
            <a:ext cx="6568135" cy="822960"/>
          </a:xfrm>
          <a:prstGeom prst="roundRect">
            <a:avLst>
              <a:gd name="adj" fmla="val 13333"/>
            </a:avLst>
          </a:prstGeom>
          <a:solidFill>
            <a:schemeClr val="bg2"/>
          </a:solidFill>
          <a:ln w="12700">
            <a:solidFill>
              <a:schemeClr val="bg2"/>
            </a:solidFill>
            <a:prstDash val="solid"/>
          </a:ln>
        </p:spPr>
        <p:txBody>
          <a:bodyPr/>
          <a:lstStyle/>
          <a:p>
            <a:endParaRPr lang="pl-PL"/>
          </a:p>
        </p:txBody>
      </p:sp>
      <p:sp>
        <p:nvSpPr>
          <p:cNvPr id="15" name="Text 12"/>
          <p:cNvSpPr txBox="1"/>
          <p:nvPr/>
        </p:nvSpPr>
        <p:spPr>
          <a:xfrm>
            <a:off x="5303520" y="3236976"/>
            <a:ext cx="3291840" cy="329184"/>
          </a:xfrm>
          <a:prstGeom prst="rect">
            <a:avLst/>
          </a:prstGeom>
          <a:noFill/>
          <a:ln/>
        </p:spPr>
        <p:txBody>
          <a:bodyPr wrap="square" lIns="0" tIns="0" rIns="0" bIns="0" rtlCol="0" anchor="t"/>
          <a:lstStyle/>
          <a:p>
            <a:pPr marL="0" indent="0">
              <a:buNone/>
            </a:pPr>
            <a:r>
              <a:rPr lang="en-US" sz="1600" b="1" dirty="0">
                <a:solidFill>
                  <a:schemeClr val="tx2"/>
                </a:solidFill>
              </a:rPr>
              <a:t>Obiekt Pro</a:t>
            </a:r>
            <a:endParaRPr lang="en-US" sz="1600" dirty="0"/>
          </a:p>
        </p:txBody>
      </p:sp>
      <p:sp>
        <p:nvSpPr>
          <p:cNvPr id="16" name="Text 13"/>
          <p:cNvSpPr txBox="1"/>
          <p:nvPr/>
        </p:nvSpPr>
        <p:spPr>
          <a:xfrm>
            <a:off x="5303520" y="3575304"/>
            <a:ext cx="4389120" cy="329184"/>
          </a:xfrm>
          <a:prstGeom prst="rect">
            <a:avLst/>
          </a:prstGeom>
          <a:noFill/>
          <a:ln/>
        </p:spPr>
        <p:txBody>
          <a:bodyPr wrap="square" lIns="0" tIns="0" rIns="0" bIns="0" rtlCol="0" anchor="t"/>
          <a:lstStyle/>
          <a:p>
            <a:pPr marL="0" indent="0">
              <a:buNone/>
            </a:pPr>
            <a:r>
              <a:rPr lang="en-US" sz="1300" dirty="0">
                <a:solidFill>
                  <a:schemeClr val="tx1"/>
                </a:solidFill>
              </a:rPr>
              <a:t>Widget na stronie, zdjęcia, statystyki wyświetleń</a:t>
            </a:r>
            <a:endParaRPr lang="en-US" sz="1300" dirty="0"/>
          </a:p>
        </p:txBody>
      </p:sp>
      <p:sp>
        <p:nvSpPr>
          <p:cNvPr id="17" name="Text 14"/>
          <p:cNvSpPr txBox="1"/>
          <p:nvPr/>
        </p:nvSpPr>
        <p:spPr>
          <a:xfrm>
            <a:off x="9539935" y="3236976"/>
            <a:ext cx="1874520" cy="640080"/>
          </a:xfrm>
          <a:prstGeom prst="rect">
            <a:avLst/>
          </a:prstGeom>
          <a:noFill/>
          <a:ln/>
        </p:spPr>
        <p:txBody>
          <a:bodyPr wrap="square" lIns="0" tIns="0" rIns="0" bIns="0" rtlCol="0" anchor="ctr"/>
          <a:lstStyle/>
          <a:p>
            <a:pPr marL="0" indent="0" algn="r">
              <a:buNone/>
            </a:pPr>
            <a:r>
              <a:rPr lang="en-US" sz="2000" b="1" dirty="0">
                <a:solidFill>
                  <a:schemeClr val="accent1"/>
                </a:solidFill>
              </a:rPr>
              <a:t>ok. 49 zł/mies.</a:t>
            </a:r>
            <a:endParaRPr lang="en-US" sz="2000" dirty="0"/>
          </a:p>
        </p:txBody>
      </p:sp>
      <p:sp>
        <p:nvSpPr>
          <p:cNvPr id="18" name="Plan Platformy, mapy, miasta"/>
          <p:cNvSpPr/>
          <p:nvPr/>
        </p:nvSpPr>
        <p:spPr>
          <a:xfrm>
            <a:off x="5074920" y="4078224"/>
            <a:ext cx="6568135" cy="822960"/>
          </a:xfrm>
          <a:prstGeom prst="roundRect">
            <a:avLst>
              <a:gd name="adj" fmla="val 13333"/>
            </a:avLst>
          </a:prstGeom>
          <a:solidFill>
            <a:schemeClr val="bg2"/>
          </a:solidFill>
          <a:ln w="12700">
            <a:solidFill>
              <a:schemeClr val="bg2"/>
            </a:solidFill>
            <a:prstDash val="solid"/>
          </a:ln>
        </p:spPr>
        <p:txBody>
          <a:bodyPr/>
          <a:lstStyle/>
          <a:p>
            <a:endParaRPr lang="pl-PL"/>
          </a:p>
        </p:txBody>
      </p:sp>
      <p:sp>
        <p:nvSpPr>
          <p:cNvPr id="19" name="Text 16"/>
          <p:cNvSpPr txBox="1"/>
          <p:nvPr/>
        </p:nvSpPr>
        <p:spPr>
          <a:xfrm>
            <a:off x="5303520" y="4169664"/>
            <a:ext cx="3291840" cy="329184"/>
          </a:xfrm>
          <a:prstGeom prst="rect">
            <a:avLst/>
          </a:prstGeom>
          <a:noFill/>
          <a:ln/>
        </p:spPr>
        <p:txBody>
          <a:bodyPr wrap="square" lIns="0" tIns="0" rIns="0" bIns="0" rtlCol="0" anchor="t"/>
          <a:lstStyle/>
          <a:p>
            <a:pPr marL="0" indent="0">
              <a:buNone/>
            </a:pPr>
            <a:r>
              <a:rPr lang="en-US" sz="1600" b="1" dirty="0">
                <a:solidFill>
                  <a:schemeClr val="tx2"/>
                </a:solidFill>
              </a:rPr>
              <a:t>Platformy, mapy, miasta</a:t>
            </a:r>
            <a:endParaRPr lang="en-US" sz="1600" dirty="0"/>
          </a:p>
        </p:txBody>
      </p:sp>
      <p:sp>
        <p:nvSpPr>
          <p:cNvPr id="20" name="Text 17"/>
          <p:cNvSpPr txBox="1"/>
          <p:nvPr/>
        </p:nvSpPr>
        <p:spPr>
          <a:xfrm>
            <a:off x="5303520" y="4507992"/>
            <a:ext cx="4389120" cy="329184"/>
          </a:xfrm>
          <a:prstGeom prst="rect">
            <a:avLst/>
          </a:prstGeom>
          <a:noFill/>
          <a:ln/>
        </p:spPr>
        <p:txBody>
          <a:bodyPr wrap="square" lIns="0" tIns="0" rIns="0" bIns="0" rtlCol="0" anchor="t"/>
          <a:lstStyle/>
          <a:p>
            <a:pPr marL="0" indent="0">
              <a:buNone/>
            </a:pPr>
            <a:r>
              <a:rPr lang="en-US" sz="1300" dirty="0">
                <a:solidFill>
                  <a:schemeClr val="tx1"/>
                </a:solidFill>
              </a:rPr>
              <a:t>API i licencja na dane, SLA; dla miast wycena per miasto</a:t>
            </a:r>
            <a:endParaRPr lang="en-US" sz="1300" dirty="0"/>
          </a:p>
        </p:txBody>
      </p:sp>
      <p:sp>
        <p:nvSpPr>
          <p:cNvPr id="21" name="Text 18"/>
          <p:cNvSpPr txBox="1"/>
          <p:nvPr/>
        </p:nvSpPr>
        <p:spPr>
          <a:xfrm>
            <a:off x="9539935" y="4169664"/>
            <a:ext cx="1874520" cy="640080"/>
          </a:xfrm>
          <a:prstGeom prst="rect">
            <a:avLst/>
          </a:prstGeom>
          <a:noFill/>
          <a:ln/>
        </p:spPr>
        <p:txBody>
          <a:bodyPr wrap="square" lIns="0" tIns="0" rIns="0" bIns="0" rtlCol="0" anchor="ctr"/>
          <a:lstStyle/>
          <a:p>
            <a:pPr marL="0" indent="0" algn="r">
              <a:buNone/>
            </a:pPr>
            <a:r>
              <a:rPr lang="en-US" sz="2000" b="1" dirty="0">
                <a:solidFill>
                  <a:schemeClr val="accent1"/>
                </a:solidFill>
              </a:rPr>
              <a:t>indywidualnie</a:t>
            </a:r>
            <a:endParaRPr lang="en-US" sz="2000" dirty="0"/>
          </a:p>
        </p:txBody>
      </p:sp>
      <p:sp>
        <p:nvSpPr>
          <p:cNvPr id="22" name="Text 19"/>
          <p:cNvSpPr txBox="1"/>
          <p:nvPr/>
        </p:nvSpPr>
        <p:spPr>
          <a:xfrm>
            <a:off x="5074920" y="5074920"/>
            <a:ext cx="6568135" cy="502920"/>
          </a:xfrm>
          <a:prstGeom prst="rect">
            <a:avLst/>
          </a:prstGeom>
          <a:noFill/>
          <a:ln/>
        </p:spPr>
        <p:txBody>
          <a:bodyPr wrap="square" lIns="0" tIns="0" rIns="0" bIns="0" rtlCol="0" anchor="t"/>
          <a:lstStyle/>
          <a:p>
            <a:pPr marL="0" indent="0">
              <a:buNone/>
            </a:pPr>
            <a:r>
              <a:rPr lang="en-US" sz="1400" dirty="0">
                <a:solidFill>
                  <a:schemeClr val="tx2"/>
                </a:solidFill>
              </a:rPr>
              <a:t>Klienci: hotele · organizatorzy wydarzeń · zarządcy obiektów · systemy rezerwacyjne · aplikacje turystyczne i mapowe</a:t>
            </a:r>
            <a:endParaRPr lang="en-US" sz="1400" dirty="0"/>
          </a:p>
        </p:txBody>
      </p:sp>
      <p:pic>
        <p:nvPicPr>
          <p:cNvPr id="23" name="Gwarancja" descr="Gwarancja"/>
          <p:cNvPicPr>
            <a:picLocks noChangeAspect="1"/>
          </p:cNvPicPr>
          <p:nvPr/>
        </p:nvPicPr>
        <p:blipFill>
          <a:blip r:embed="rId4"/>
          <a:stretch>
            <a:fillRect/>
          </a:stretch>
        </p:blipFill>
        <p:spPr>
          <a:xfrm>
            <a:off x="5074920" y="5687568"/>
            <a:ext cx="329184" cy="329184"/>
          </a:xfrm>
          <a:prstGeom prst="rect">
            <a:avLst/>
          </a:prstGeom>
        </p:spPr>
      </p:pic>
      <p:sp>
        <p:nvSpPr>
          <p:cNvPr id="24" name="Text 20"/>
          <p:cNvSpPr txBox="1"/>
          <p:nvPr/>
        </p:nvSpPr>
        <p:spPr>
          <a:xfrm>
            <a:off x="5532120" y="5623560"/>
            <a:ext cx="6110935" cy="457200"/>
          </a:xfrm>
          <a:prstGeom prst="rect">
            <a:avLst/>
          </a:prstGeom>
          <a:noFill/>
          <a:ln/>
        </p:spPr>
        <p:txBody>
          <a:bodyPr wrap="square" lIns="0" tIns="0" rIns="0" bIns="0" rtlCol="0" anchor="ctr"/>
          <a:lstStyle/>
          <a:p>
            <a:pPr marL="0" indent="0">
              <a:buNone/>
            </a:pPr>
            <a:r>
              <a:rPr lang="en-US" sz="1400" b="1" dirty="0">
                <a:solidFill>
                  <a:schemeClr val="accent1"/>
                </a:solidFill>
              </a:rPr>
              <a:t>Płatny plan nigdy nie podnosi statusu wiarygodności ani pozycji w wynikach.</a:t>
            </a:r>
            <a:endParaRPr lang="en-US" sz="1400" dirty="0"/>
          </a:p>
        </p:txBody>
      </p:sp>
      <p:sp>
        <p:nvSpPr>
          <p:cNvPr id="25" name="Text 21"/>
          <p:cNvSpPr txBox="1"/>
          <p:nvPr/>
        </p:nvSpPr>
        <p:spPr>
          <a:xfrm>
            <a:off x="5532120" y="6053328"/>
            <a:ext cx="6110935" cy="274320"/>
          </a:xfrm>
          <a:prstGeom prst="rect">
            <a:avLst/>
          </a:prstGeom>
          <a:noFill/>
          <a:ln/>
        </p:spPr>
        <p:txBody>
          <a:bodyPr wrap="square" lIns="0" tIns="0" rIns="0" bIns="0" rtlCol="0" anchor="t"/>
          <a:lstStyle/>
          <a:p>
            <a:pPr marL="0" indent="0">
              <a:buNone/>
            </a:pPr>
            <a:r>
              <a:rPr lang="en-US" sz="1100" dirty="0">
                <a:solidFill>
                  <a:schemeClr val="accent6"/>
                </a:solidFill>
              </a:rPr>
              <a:t>Ceny: propozycja do weryfikacji w pilotażu.</a:t>
            </a:r>
            <a:endParaRPr lang="en-US" sz="1100" dirty="0"/>
          </a:p>
        </p:txBody>
      </p:sp>
      <p:sp>
        <p:nvSpPr>
          <p:cNvPr id="26"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000" b="1" dirty="0">
                <a:solidFill>
                  <a:schemeClr val="tx2"/>
                </a:solidFill>
                <a:latin typeface="Arial" pitchFamily="34" charset="0"/>
                <a:ea typeface="Arial" pitchFamily="34" charset="-122"/>
                <a:cs typeface="Arial" pitchFamily="34" charset="-120"/>
              </a:rPr>
              <a:t>Od prototypu do usługi w kolejnych miastach</a:t>
            </a:r>
            <a:endParaRPr lang="en-US" sz="3000" dirty="0"/>
          </a:p>
        </p:txBody>
      </p:sp>
      <p:sp>
        <p:nvSpPr>
          <p:cNvPr id="3" name="Oś czasu"/>
          <p:cNvSpPr/>
          <p:nvPr/>
        </p:nvSpPr>
        <p:spPr>
          <a:xfrm>
            <a:off x="777240" y="1627632"/>
            <a:ext cx="8320811" cy="0"/>
          </a:xfrm>
          <a:prstGeom prst="line">
            <a:avLst/>
          </a:prstGeom>
          <a:noFill/>
          <a:ln w="25400">
            <a:solidFill>
              <a:schemeClr val="accent1"/>
            </a:solidFill>
            <a:prstDash val="solid"/>
          </a:ln>
        </p:spPr>
        <p:txBody>
          <a:bodyPr/>
          <a:lstStyle/>
          <a:p>
            <a:endParaRPr lang="pl-PL"/>
          </a:p>
        </p:txBody>
      </p:sp>
      <p:sp>
        <p:nvSpPr>
          <p:cNvPr id="4" name="Etap Hackathon"/>
          <p:cNvSpPr/>
          <p:nvPr/>
        </p:nvSpPr>
        <p:spPr>
          <a:xfrm>
            <a:off x="548640" y="1399032"/>
            <a:ext cx="457200" cy="457200"/>
          </a:xfrm>
          <a:prstGeom prst="ellipse">
            <a:avLst/>
          </a:prstGeom>
          <a:solidFill>
            <a:schemeClr val="accent2"/>
          </a:solidFill>
          <a:ln w="25400">
            <a:solidFill>
              <a:schemeClr val="bg1"/>
            </a:solidFill>
            <a:prstDash val="solid"/>
          </a:ln>
        </p:spPr>
        <p:txBody>
          <a:bodyPr/>
          <a:lstStyle/>
          <a:p>
            <a:endParaRPr lang="pl-PL"/>
          </a:p>
        </p:txBody>
      </p:sp>
      <p:sp>
        <p:nvSpPr>
          <p:cNvPr id="5" name="Text 3"/>
          <p:cNvSpPr txBox="1"/>
          <p:nvPr/>
        </p:nvSpPr>
        <p:spPr>
          <a:xfrm>
            <a:off x="548640" y="1399032"/>
            <a:ext cx="457200" cy="457200"/>
          </a:xfrm>
          <a:prstGeom prst="ellipse">
            <a:avLst/>
          </a:prstGeom>
          <a:solidFill>
            <a:schemeClr val="accent1">
              <a:lumMod val="20000"/>
              <a:lumOff val="80000"/>
            </a:schemeClr>
          </a:solidFill>
          <a:ln>
            <a:solidFill>
              <a:schemeClr val="tx2"/>
            </a:solidFill>
          </a:ln>
        </p:spPr>
        <p:txBody>
          <a:bodyPr wrap="square" lIns="0" tIns="0" rIns="0" bIns="0" rtlCol="0" anchor="ctr"/>
          <a:lstStyle/>
          <a:p>
            <a:pPr marL="0" indent="0" algn="ctr">
              <a:buNone/>
            </a:pPr>
            <a:r>
              <a:rPr lang="en-US" sz="1600" b="1" dirty="0">
                <a:solidFill>
                  <a:schemeClr val="tx2"/>
                </a:solidFill>
              </a:rPr>
              <a:t>1</a:t>
            </a:r>
            <a:endParaRPr lang="en-US" sz="1600" dirty="0"/>
          </a:p>
        </p:txBody>
      </p:sp>
      <p:sp>
        <p:nvSpPr>
          <p:cNvPr id="6" name="Text 4"/>
          <p:cNvSpPr txBox="1"/>
          <p:nvPr/>
        </p:nvSpPr>
        <p:spPr>
          <a:xfrm>
            <a:off x="548640" y="1965960"/>
            <a:ext cx="2499284" cy="365760"/>
          </a:xfrm>
          <a:prstGeom prst="rect">
            <a:avLst/>
          </a:prstGeom>
          <a:noFill/>
          <a:ln/>
        </p:spPr>
        <p:txBody>
          <a:bodyPr wrap="square" lIns="0" tIns="0" rIns="0" bIns="0" rtlCol="0" anchor="t"/>
          <a:lstStyle/>
          <a:p>
            <a:pPr marL="0" indent="0">
              <a:buNone/>
            </a:pPr>
            <a:r>
              <a:rPr lang="en-US" sz="1700" b="1" dirty="0">
                <a:solidFill>
                  <a:schemeClr val="tx2"/>
                </a:solidFill>
              </a:rPr>
              <a:t>Hackathon</a:t>
            </a:r>
            <a:endParaRPr lang="en-US" sz="1700" dirty="0"/>
          </a:p>
        </p:txBody>
      </p:sp>
      <p:sp>
        <p:nvSpPr>
          <p:cNvPr id="7" name="Text 5"/>
          <p:cNvSpPr txBox="1"/>
          <p:nvPr/>
        </p:nvSpPr>
        <p:spPr>
          <a:xfrm>
            <a:off x="548640" y="2331720"/>
            <a:ext cx="2453564" cy="685800"/>
          </a:xfrm>
          <a:prstGeom prst="rect">
            <a:avLst/>
          </a:prstGeom>
          <a:noFill/>
          <a:ln/>
        </p:spPr>
        <p:txBody>
          <a:bodyPr wrap="square" lIns="0" tIns="0" rIns="0" bIns="0" rtlCol="0" anchor="t"/>
          <a:lstStyle/>
          <a:p>
            <a:pPr marL="0" indent="0">
              <a:buNone/>
            </a:pPr>
            <a:r>
              <a:rPr lang="en-US" sz="1400" dirty="0">
                <a:solidFill>
                  <a:schemeClr val="tx1"/>
                </a:solidFill>
              </a:rPr>
              <a:t>Działający prototyp dla Krakowa, 1951 miejsc z OSM</a:t>
            </a:r>
            <a:endParaRPr lang="en-US" sz="1400" dirty="0"/>
          </a:p>
        </p:txBody>
      </p:sp>
      <p:sp>
        <p:nvSpPr>
          <p:cNvPr id="8" name="Etap Pilot"/>
          <p:cNvSpPr/>
          <p:nvPr/>
        </p:nvSpPr>
        <p:spPr>
          <a:xfrm>
            <a:off x="3322244" y="1399032"/>
            <a:ext cx="457200" cy="457200"/>
          </a:xfrm>
          <a:prstGeom prst="ellipse">
            <a:avLst/>
          </a:prstGeom>
          <a:solidFill>
            <a:schemeClr val="accent1"/>
          </a:solidFill>
          <a:ln w="25400">
            <a:solidFill>
              <a:schemeClr val="bg1"/>
            </a:solidFill>
            <a:prstDash val="solid"/>
          </a:ln>
        </p:spPr>
        <p:txBody>
          <a:bodyPr/>
          <a:lstStyle/>
          <a:p>
            <a:endParaRPr lang="pl-PL"/>
          </a:p>
        </p:txBody>
      </p:sp>
      <p:sp>
        <p:nvSpPr>
          <p:cNvPr id="9" name="Text 7"/>
          <p:cNvSpPr txBox="1"/>
          <p:nvPr/>
        </p:nvSpPr>
        <p:spPr>
          <a:xfrm>
            <a:off x="3322244" y="139903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Text 8"/>
          <p:cNvSpPr txBox="1"/>
          <p:nvPr/>
        </p:nvSpPr>
        <p:spPr>
          <a:xfrm>
            <a:off x="3322244" y="1965960"/>
            <a:ext cx="2499284" cy="365760"/>
          </a:xfrm>
          <a:prstGeom prst="rect">
            <a:avLst/>
          </a:prstGeom>
          <a:noFill/>
          <a:ln/>
        </p:spPr>
        <p:txBody>
          <a:bodyPr wrap="square" lIns="0" tIns="0" rIns="0" bIns="0" rtlCol="0" anchor="t"/>
          <a:lstStyle/>
          <a:p>
            <a:pPr marL="0" indent="0">
              <a:buNone/>
            </a:pPr>
            <a:r>
              <a:rPr lang="en-US" sz="1700" b="1" dirty="0">
                <a:solidFill>
                  <a:schemeClr val="tx2"/>
                </a:solidFill>
              </a:rPr>
              <a:t>Pilot</a:t>
            </a:r>
            <a:endParaRPr lang="en-US" sz="1700" dirty="0"/>
          </a:p>
        </p:txBody>
      </p:sp>
      <p:sp>
        <p:nvSpPr>
          <p:cNvPr id="11" name="Text 9"/>
          <p:cNvSpPr txBox="1"/>
          <p:nvPr/>
        </p:nvSpPr>
        <p:spPr>
          <a:xfrm>
            <a:off x="3322244" y="2331720"/>
            <a:ext cx="2453564" cy="685800"/>
          </a:xfrm>
          <a:prstGeom prst="rect">
            <a:avLst/>
          </a:prstGeom>
          <a:noFill/>
          <a:ln/>
        </p:spPr>
        <p:txBody>
          <a:bodyPr wrap="square" lIns="0" tIns="0" rIns="0" bIns="0" rtlCol="0" anchor="t"/>
          <a:lstStyle/>
          <a:p>
            <a:pPr marL="0" indent="0">
              <a:buNone/>
            </a:pPr>
            <a:r>
              <a:rPr lang="en-US" sz="1400" dirty="0">
                <a:solidFill>
                  <a:schemeClr val="tx1"/>
                </a:solidFill>
              </a:rPr>
              <a:t>50 potwierdzonych obiektów, pierwsi partnerzy</a:t>
            </a:r>
            <a:endParaRPr lang="en-US" sz="1400" dirty="0"/>
          </a:p>
        </p:txBody>
      </p:sp>
      <p:sp>
        <p:nvSpPr>
          <p:cNvPr id="12" name="Etap Usługa"/>
          <p:cNvSpPr/>
          <p:nvPr/>
        </p:nvSpPr>
        <p:spPr>
          <a:xfrm>
            <a:off x="6095848" y="1399032"/>
            <a:ext cx="457200" cy="457200"/>
          </a:xfrm>
          <a:prstGeom prst="ellipse">
            <a:avLst/>
          </a:prstGeom>
          <a:solidFill>
            <a:schemeClr val="accent1"/>
          </a:solidFill>
          <a:ln w="25400">
            <a:solidFill>
              <a:schemeClr val="bg1"/>
            </a:solidFill>
            <a:prstDash val="solid"/>
          </a:ln>
        </p:spPr>
        <p:txBody>
          <a:bodyPr/>
          <a:lstStyle/>
          <a:p>
            <a:endParaRPr lang="pl-PL"/>
          </a:p>
        </p:txBody>
      </p:sp>
      <p:sp>
        <p:nvSpPr>
          <p:cNvPr id="13" name="Text 11"/>
          <p:cNvSpPr txBox="1"/>
          <p:nvPr/>
        </p:nvSpPr>
        <p:spPr>
          <a:xfrm>
            <a:off x="6095848" y="139903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Text 12"/>
          <p:cNvSpPr txBox="1"/>
          <p:nvPr/>
        </p:nvSpPr>
        <p:spPr>
          <a:xfrm>
            <a:off x="6095848" y="1965960"/>
            <a:ext cx="2499284" cy="365760"/>
          </a:xfrm>
          <a:prstGeom prst="rect">
            <a:avLst/>
          </a:prstGeom>
          <a:noFill/>
          <a:ln/>
        </p:spPr>
        <p:txBody>
          <a:bodyPr wrap="square" lIns="0" tIns="0" rIns="0" bIns="0" rtlCol="0" anchor="t"/>
          <a:lstStyle/>
          <a:p>
            <a:pPr marL="0" indent="0">
              <a:buNone/>
            </a:pPr>
            <a:r>
              <a:rPr lang="en-US" sz="1700" b="1" dirty="0">
                <a:solidFill>
                  <a:schemeClr val="tx2"/>
                </a:solidFill>
              </a:rPr>
              <a:t>Usługa</a:t>
            </a:r>
            <a:endParaRPr lang="en-US" sz="1700" dirty="0"/>
          </a:p>
        </p:txBody>
      </p:sp>
      <p:sp>
        <p:nvSpPr>
          <p:cNvPr id="15" name="Text 13"/>
          <p:cNvSpPr txBox="1"/>
          <p:nvPr/>
        </p:nvSpPr>
        <p:spPr>
          <a:xfrm>
            <a:off x="6095848" y="2331720"/>
            <a:ext cx="2453564" cy="685800"/>
          </a:xfrm>
          <a:prstGeom prst="rect">
            <a:avLst/>
          </a:prstGeom>
          <a:noFill/>
          <a:ln/>
        </p:spPr>
        <p:txBody>
          <a:bodyPr wrap="square" lIns="0" tIns="0" rIns="0" bIns="0" rtlCol="0" anchor="t"/>
          <a:lstStyle/>
          <a:p>
            <a:pPr marL="0" indent="0">
              <a:buNone/>
            </a:pPr>
            <a:r>
              <a:rPr lang="en-US" sz="1400" dirty="0">
                <a:solidFill>
                  <a:schemeClr val="tx1"/>
                </a:solidFill>
              </a:rPr>
              <a:t>Plany Pro i API pokrywają utrzymanie zespołu</a:t>
            </a:r>
            <a:endParaRPr lang="en-US" sz="1400" dirty="0"/>
          </a:p>
        </p:txBody>
      </p:sp>
      <p:sp>
        <p:nvSpPr>
          <p:cNvPr id="16" name="Etap Skalowanie"/>
          <p:cNvSpPr/>
          <p:nvPr/>
        </p:nvSpPr>
        <p:spPr>
          <a:xfrm>
            <a:off x="8869451" y="1399032"/>
            <a:ext cx="457200" cy="457200"/>
          </a:xfrm>
          <a:prstGeom prst="ellipse">
            <a:avLst/>
          </a:prstGeom>
          <a:solidFill>
            <a:schemeClr val="accent1"/>
          </a:solidFill>
          <a:ln w="25400">
            <a:solidFill>
              <a:schemeClr val="bg1"/>
            </a:solidFill>
            <a:prstDash val="solid"/>
          </a:ln>
        </p:spPr>
        <p:txBody>
          <a:bodyPr/>
          <a:lstStyle/>
          <a:p>
            <a:endParaRPr lang="pl-PL"/>
          </a:p>
        </p:txBody>
      </p:sp>
      <p:sp>
        <p:nvSpPr>
          <p:cNvPr id="17" name="Text 15"/>
          <p:cNvSpPr txBox="1"/>
          <p:nvPr/>
        </p:nvSpPr>
        <p:spPr>
          <a:xfrm>
            <a:off x="8869451" y="139903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Text 16"/>
          <p:cNvSpPr txBox="1"/>
          <p:nvPr/>
        </p:nvSpPr>
        <p:spPr>
          <a:xfrm>
            <a:off x="8869451" y="1965960"/>
            <a:ext cx="2499284" cy="365760"/>
          </a:xfrm>
          <a:prstGeom prst="rect">
            <a:avLst/>
          </a:prstGeom>
          <a:noFill/>
          <a:ln/>
        </p:spPr>
        <p:txBody>
          <a:bodyPr wrap="square" lIns="0" tIns="0" rIns="0" bIns="0" rtlCol="0" anchor="t"/>
          <a:lstStyle/>
          <a:p>
            <a:pPr marL="0" indent="0">
              <a:buNone/>
            </a:pPr>
            <a:r>
              <a:rPr lang="en-US" sz="1700" b="1" dirty="0">
                <a:solidFill>
                  <a:schemeClr val="tx2"/>
                </a:solidFill>
              </a:rPr>
              <a:t>Skalowanie</a:t>
            </a:r>
            <a:endParaRPr lang="en-US" sz="1700" dirty="0"/>
          </a:p>
        </p:txBody>
      </p:sp>
      <p:sp>
        <p:nvSpPr>
          <p:cNvPr id="19" name="Text 17"/>
          <p:cNvSpPr txBox="1"/>
          <p:nvPr/>
        </p:nvSpPr>
        <p:spPr>
          <a:xfrm>
            <a:off x="8869451" y="2331720"/>
            <a:ext cx="2453564" cy="685800"/>
          </a:xfrm>
          <a:prstGeom prst="rect">
            <a:avLst/>
          </a:prstGeom>
          <a:noFill/>
          <a:ln/>
        </p:spPr>
        <p:txBody>
          <a:bodyPr wrap="square" lIns="0" tIns="0" rIns="0" bIns="0" rtlCol="0" anchor="t"/>
          <a:lstStyle/>
          <a:p>
            <a:pPr marL="0" indent="0">
              <a:buNone/>
            </a:pPr>
            <a:r>
              <a:rPr lang="en-US" sz="1400" dirty="0">
                <a:solidFill>
                  <a:schemeClr val="tx1"/>
                </a:solidFill>
              </a:rPr>
              <a:t>Kolejne miasta tą samą konfiguracją</a:t>
            </a:r>
            <a:endParaRPr lang="en-US" sz="1400" dirty="0"/>
          </a:p>
        </p:txBody>
      </p:sp>
      <p:sp>
        <p:nvSpPr>
          <p:cNvPr id="20" name="Kto i za ile"/>
          <p:cNvSpPr/>
          <p:nvPr/>
        </p:nvSpPr>
        <p:spPr>
          <a:xfrm>
            <a:off x="548640" y="3246120"/>
            <a:ext cx="3515258" cy="2880360"/>
          </a:xfrm>
          <a:prstGeom prst="roundRect">
            <a:avLst>
              <a:gd name="adj" fmla="val 3810"/>
            </a:avLst>
          </a:prstGeom>
          <a:solidFill>
            <a:schemeClr val="bg2"/>
          </a:solidFill>
          <a:ln w="12700">
            <a:solidFill>
              <a:schemeClr val="bg2"/>
            </a:solidFill>
            <a:prstDash val="solid"/>
          </a:ln>
        </p:spPr>
        <p:txBody>
          <a:bodyPr/>
          <a:lstStyle/>
          <a:p>
            <a:endParaRPr lang="pl-PL"/>
          </a:p>
        </p:txBody>
      </p:sp>
      <p:sp>
        <p:nvSpPr>
          <p:cNvPr id="21" name="Kto i za ile – tło"/>
          <p:cNvSpPr/>
          <p:nvPr/>
        </p:nvSpPr>
        <p:spPr>
          <a:xfrm>
            <a:off x="777240" y="3474720"/>
            <a:ext cx="548640" cy="548640"/>
          </a:xfrm>
          <a:prstGeom prst="ellipse">
            <a:avLst/>
          </a:prstGeom>
          <a:solidFill>
            <a:schemeClr val="accent1"/>
          </a:solidFill>
          <a:ln w="12700">
            <a:solidFill>
              <a:schemeClr val="accent1"/>
            </a:solidFill>
            <a:prstDash val="solid"/>
          </a:ln>
        </p:spPr>
        <p:txBody>
          <a:bodyPr/>
          <a:lstStyle/>
          <a:p>
            <a:endParaRPr lang="pl-PL"/>
          </a:p>
        </p:txBody>
      </p:sp>
      <p:pic>
        <p:nvPicPr>
          <p:cNvPr id="22" name="Kto i za ile" descr="Kto i za ile"/>
          <p:cNvPicPr>
            <a:picLocks noChangeAspect="1"/>
          </p:cNvPicPr>
          <p:nvPr/>
        </p:nvPicPr>
        <p:blipFill>
          <a:blip r:embed="rId3"/>
          <a:stretch>
            <a:fillRect/>
          </a:stretch>
        </p:blipFill>
        <p:spPr>
          <a:xfrm>
            <a:off x="914400" y="3611880"/>
            <a:ext cx="274320" cy="274320"/>
          </a:xfrm>
          <a:prstGeom prst="rect">
            <a:avLst/>
          </a:prstGeom>
        </p:spPr>
      </p:pic>
      <p:sp>
        <p:nvSpPr>
          <p:cNvPr id="23" name="Text 20"/>
          <p:cNvSpPr txBox="1"/>
          <p:nvPr/>
        </p:nvSpPr>
        <p:spPr>
          <a:xfrm>
            <a:off x="1463040" y="3474720"/>
            <a:ext cx="2463698" cy="548640"/>
          </a:xfrm>
          <a:prstGeom prst="rect">
            <a:avLst/>
          </a:prstGeom>
          <a:noFill/>
          <a:ln/>
        </p:spPr>
        <p:txBody>
          <a:bodyPr wrap="square" lIns="0" tIns="0" rIns="0" bIns="0" rtlCol="0" anchor="ctr"/>
          <a:lstStyle/>
          <a:p>
            <a:pPr marL="0" indent="0">
              <a:buNone/>
            </a:pPr>
            <a:r>
              <a:rPr lang="en-US" sz="1700" b="1" dirty="0">
                <a:solidFill>
                  <a:schemeClr val="tx2"/>
                </a:solidFill>
              </a:rPr>
              <a:t>Kto i za ile</a:t>
            </a:r>
            <a:endParaRPr lang="en-US" sz="1700" dirty="0"/>
          </a:p>
        </p:txBody>
      </p:sp>
      <p:sp>
        <p:nvSpPr>
          <p:cNvPr id="24" name="Text 21"/>
          <p:cNvSpPr txBox="1"/>
          <p:nvPr/>
        </p:nvSpPr>
        <p:spPr>
          <a:xfrm>
            <a:off x="777240" y="4206240"/>
            <a:ext cx="3103778" cy="17830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Operator: startup lub NGO, poza infrastrukturą UMK</a:t>
            </a:r>
            <a:endParaRPr lang="en-US" sz="1400" dirty="0"/>
          </a:p>
          <a:p>
            <a:pPr marL="203200" indent="-203200">
              <a:spcAft>
                <a:spcPts val="600"/>
              </a:spcAft>
              <a:buSzPct val="100000"/>
              <a:buChar char="•"/>
            </a:pPr>
            <a:r>
              <a:rPr lang="en-US" sz="1400" dirty="0">
                <a:solidFill>
                  <a:schemeClr val="tx1"/>
                </a:solidFill>
              </a:rPr>
              <a:t>Hosting ok. 200–400 zł/mies., dowolny dostawca (Docker)</a:t>
            </a:r>
            <a:endParaRPr lang="en-US" sz="1400" dirty="0"/>
          </a:p>
          <a:p>
            <a:pPr marL="203200" indent="-203200">
              <a:spcAft>
                <a:spcPts val="600"/>
              </a:spcAft>
              <a:buSzPct val="100000"/>
              <a:buChar char="•"/>
            </a:pPr>
            <a:r>
              <a:rPr lang="en-US" sz="1400" dirty="0">
                <a:solidFill>
                  <a:schemeClr val="tx1"/>
                </a:solidFill>
              </a:rPr>
              <a:t>Zgłoszenia: moderacja i potwierdzenia właścicieli</a:t>
            </a:r>
            <a:endParaRPr lang="en-US" sz="1400" dirty="0"/>
          </a:p>
        </p:txBody>
      </p:sp>
      <p:sp>
        <p:nvSpPr>
          <p:cNvPr id="25" name="Bezpieczeństwo i prywatność"/>
          <p:cNvSpPr/>
          <p:nvPr/>
        </p:nvSpPr>
        <p:spPr>
          <a:xfrm>
            <a:off x="4338218" y="3246120"/>
            <a:ext cx="3515258" cy="2880360"/>
          </a:xfrm>
          <a:prstGeom prst="roundRect">
            <a:avLst>
              <a:gd name="adj" fmla="val 3810"/>
            </a:avLst>
          </a:prstGeom>
          <a:solidFill>
            <a:schemeClr val="bg2"/>
          </a:solidFill>
          <a:ln w="12700">
            <a:solidFill>
              <a:schemeClr val="bg2"/>
            </a:solidFill>
            <a:prstDash val="solid"/>
          </a:ln>
        </p:spPr>
        <p:txBody>
          <a:bodyPr/>
          <a:lstStyle/>
          <a:p>
            <a:endParaRPr lang="pl-PL"/>
          </a:p>
        </p:txBody>
      </p:sp>
      <p:sp>
        <p:nvSpPr>
          <p:cNvPr id="26" name="Bezpieczeństwo i prywatność – tło"/>
          <p:cNvSpPr/>
          <p:nvPr/>
        </p:nvSpPr>
        <p:spPr>
          <a:xfrm>
            <a:off x="4566818" y="3474720"/>
            <a:ext cx="548640" cy="548640"/>
          </a:xfrm>
          <a:prstGeom prst="ellipse">
            <a:avLst/>
          </a:prstGeom>
          <a:solidFill>
            <a:schemeClr val="accent1"/>
          </a:solidFill>
          <a:ln w="12700">
            <a:solidFill>
              <a:schemeClr val="accent1"/>
            </a:solidFill>
            <a:prstDash val="solid"/>
          </a:ln>
        </p:spPr>
        <p:txBody>
          <a:bodyPr/>
          <a:lstStyle/>
          <a:p>
            <a:endParaRPr lang="pl-PL"/>
          </a:p>
        </p:txBody>
      </p:sp>
      <p:pic>
        <p:nvPicPr>
          <p:cNvPr id="27" name="Bezpieczeństwo i prywatność" descr="Bezpieczeństwo i prywatność"/>
          <p:cNvPicPr>
            <a:picLocks noChangeAspect="1"/>
          </p:cNvPicPr>
          <p:nvPr/>
        </p:nvPicPr>
        <p:blipFill>
          <a:blip r:embed="rId4"/>
          <a:stretch>
            <a:fillRect/>
          </a:stretch>
        </p:blipFill>
        <p:spPr>
          <a:xfrm>
            <a:off x="4703978" y="3611880"/>
            <a:ext cx="274320" cy="274320"/>
          </a:xfrm>
          <a:prstGeom prst="rect">
            <a:avLst/>
          </a:prstGeom>
        </p:spPr>
      </p:pic>
      <p:sp>
        <p:nvSpPr>
          <p:cNvPr id="28" name="Text 24"/>
          <p:cNvSpPr txBox="1"/>
          <p:nvPr/>
        </p:nvSpPr>
        <p:spPr>
          <a:xfrm>
            <a:off x="5252618" y="3474720"/>
            <a:ext cx="2463698" cy="548640"/>
          </a:xfrm>
          <a:prstGeom prst="rect">
            <a:avLst/>
          </a:prstGeom>
          <a:noFill/>
          <a:ln/>
        </p:spPr>
        <p:txBody>
          <a:bodyPr wrap="square" lIns="0" tIns="0" rIns="0" bIns="0" rtlCol="0" anchor="ctr"/>
          <a:lstStyle/>
          <a:p>
            <a:pPr marL="0" indent="0">
              <a:buNone/>
            </a:pPr>
            <a:r>
              <a:rPr lang="en-US" sz="1700" b="1" dirty="0">
                <a:solidFill>
                  <a:schemeClr val="tx2"/>
                </a:solidFill>
              </a:rPr>
              <a:t>Bezpieczeństwo i prywatność</a:t>
            </a:r>
            <a:endParaRPr lang="en-US" sz="1700" dirty="0"/>
          </a:p>
        </p:txBody>
      </p:sp>
      <p:sp>
        <p:nvSpPr>
          <p:cNvPr id="29" name="Text 25"/>
          <p:cNvSpPr txBox="1"/>
          <p:nvPr/>
        </p:nvSpPr>
        <p:spPr>
          <a:xfrm>
            <a:off x="4566818" y="4206240"/>
            <a:ext cx="3103778" cy="17830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Nie pytamy o niepełnosprawność; profil tylko na urządzeniu</a:t>
            </a:r>
            <a:endParaRPr lang="en-US" sz="1400" dirty="0"/>
          </a:p>
          <a:p>
            <a:pPr marL="203200" indent="-203200">
              <a:spcAft>
                <a:spcPts val="600"/>
              </a:spcAft>
              <a:buSzPct val="100000"/>
              <a:buChar char="•"/>
            </a:pPr>
            <a:r>
              <a:rPr lang="en-US" sz="1400" dirty="0">
                <a:solidFill>
                  <a:schemeClr val="tx1"/>
                </a:solidFill>
              </a:rPr>
              <a:t>Zgłoszenia bez konta; zamiast adresu IP tylko skrót</a:t>
            </a:r>
            <a:endParaRPr lang="en-US" sz="1400" dirty="0"/>
          </a:p>
          <a:p>
            <a:pPr marL="203200" indent="-203200">
              <a:spcAft>
                <a:spcPts val="600"/>
              </a:spcAft>
              <a:buSzPct val="100000"/>
              <a:buChar char="•"/>
            </a:pPr>
            <a:r>
              <a:rPr lang="en-US" sz="1400" dirty="0">
                <a:solidFill>
                  <a:schemeClr val="tx1"/>
                </a:solidFill>
              </a:rPr>
              <a:t>E-mail opcjonalny; wdrożenie wyłącznie po HTTPS</a:t>
            </a:r>
            <a:endParaRPr lang="en-US" sz="1400" dirty="0"/>
          </a:p>
        </p:txBody>
      </p:sp>
      <p:sp>
        <p:nvSpPr>
          <p:cNvPr id="30" name="Przenaszalność"/>
          <p:cNvSpPr/>
          <p:nvPr/>
        </p:nvSpPr>
        <p:spPr>
          <a:xfrm>
            <a:off x="8127797" y="3246120"/>
            <a:ext cx="3515258" cy="2880360"/>
          </a:xfrm>
          <a:prstGeom prst="roundRect">
            <a:avLst>
              <a:gd name="adj" fmla="val 3810"/>
            </a:avLst>
          </a:prstGeom>
          <a:solidFill>
            <a:schemeClr val="bg2"/>
          </a:solidFill>
          <a:ln w="12700">
            <a:solidFill>
              <a:schemeClr val="bg2"/>
            </a:solidFill>
            <a:prstDash val="solid"/>
          </a:ln>
        </p:spPr>
        <p:txBody>
          <a:bodyPr/>
          <a:lstStyle/>
          <a:p>
            <a:endParaRPr lang="pl-PL"/>
          </a:p>
        </p:txBody>
      </p:sp>
      <p:sp>
        <p:nvSpPr>
          <p:cNvPr id="31" name="Przenaszalność – tło"/>
          <p:cNvSpPr/>
          <p:nvPr/>
        </p:nvSpPr>
        <p:spPr>
          <a:xfrm>
            <a:off x="8356397" y="3474720"/>
            <a:ext cx="548640" cy="548640"/>
          </a:xfrm>
          <a:prstGeom prst="ellipse">
            <a:avLst/>
          </a:prstGeom>
          <a:solidFill>
            <a:schemeClr val="accent1"/>
          </a:solidFill>
          <a:ln w="12700">
            <a:solidFill>
              <a:schemeClr val="accent1"/>
            </a:solidFill>
            <a:prstDash val="solid"/>
          </a:ln>
        </p:spPr>
        <p:txBody>
          <a:bodyPr/>
          <a:lstStyle/>
          <a:p>
            <a:endParaRPr lang="pl-PL"/>
          </a:p>
        </p:txBody>
      </p:sp>
      <p:pic>
        <p:nvPicPr>
          <p:cNvPr id="32" name="Przenaszalność" descr="Przenaszalność"/>
          <p:cNvPicPr>
            <a:picLocks noChangeAspect="1"/>
          </p:cNvPicPr>
          <p:nvPr/>
        </p:nvPicPr>
        <p:blipFill>
          <a:blip r:embed="rId5"/>
          <a:stretch>
            <a:fillRect/>
          </a:stretch>
        </p:blipFill>
        <p:spPr>
          <a:xfrm>
            <a:off x="8493557" y="3611880"/>
            <a:ext cx="274320" cy="274320"/>
          </a:xfrm>
          <a:prstGeom prst="rect">
            <a:avLst/>
          </a:prstGeom>
        </p:spPr>
      </p:pic>
      <p:sp>
        <p:nvSpPr>
          <p:cNvPr id="33" name="Text 28"/>
          <p:cNvSpPr txBox="1"/>
          <p:nvPr/>
        </p:nvSpPr>
        <p:spPr>
          <a:xfrm>
            <a:off x="9042197" y="3474720"/>
            <a:ext cx="2463698" cy="548640"/>
          </a:xfrm>
          <a:prstGeom prst="rect">
            <a:avLst/>
          </a:prstGeom>
          <a:noFill/>
          <a:ln/>
        </p:spPr>
        <p:txBody>
          <a:bodyPr wrap="square" lIns="0" tIns="0" rIns="0" bIns="0" rtlCol="0" anchor="ctr"/>
          <a:lstStyle/>
          <a:p>
            <a:pPr marL="0" indent="0">
              <a:buNone/>
            </a:pPr>
            <a:r>
              <a:rPr lang="en-US" sz="1700" b="1" dirty="0">
                <a:solidFill>
                  <a:schemeClr val="tx2"/>
                </a:solidFill>
              </a:rPr>
              <a:t>Przenaszalność</a:t>
            </a:r>
            <a:endParaRPr lang="en-US" sz="1700" dirty="0"/>
          </a:p>
        </p:txBody>
      </p:sp>
      <p:sp>
        <p:nvSpPr>
          <p:cNvPr id="34" name="Text 29"/>
          <p:cNvSpPr txBox="1"/>
          <p:nvPr/>
        </p:nvSpPr>
        <p:spPr>
          <a:xfrm>
            <a:off x="8356397" y="4206240"/>
            <a:ext cx="3103778" cy="17830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Open source: Django, PostGIS, React, Leaflet, GraphHopper</a:t>
            </a:r>
            <a:endParaRPr lang="en-US" sz="1400" dirty="0"/>
          </a:p>
          <a:p>
            <a:pPr marL="203200" indent="-203200">
              <a:spcAft>
                <a:spcPts val="600"/>
              </a:spcAft>
              <a:buSzPct val="100000"/>
              <a:buChar char="•"/>
            </a:pPr>
            <a:r>
              <a:rPr lang="en-US" sz="1400" dirty="0">
                <a:solidFill>
                  <a:schemeClr val="tx1"/>
                </a:solidFill>
              </a:rPr>
              <a:t>Dane OSM na licencji ODbL z atrybucją</a:t>
            </a:r>
            <a:endParaRPr lang="en-US" sz="1400" dirty="0"/>
          </a:p>
          <a:p>
            <a:pPr marL="203200" indent="-203200">
              <a:spcAft>
                <a:spcPts val="600"/>
              </a:spcAft>
              <a:buSzPct val="100000"/>
              <a:buChar char="•"/>
            </a:pPr>
            <a:r>
              <a:rPr lang="en-US" sz="1400" dirty="0">
                <a:solidFill>
                  <a:schemeClr val="tx1"/>
                </a:solidFill>
              </a:rPr>
              <a:t>Brak zależności od systemów UMK i MJO</a:t>
            </a:r>
            <a:endParaRPr lang="en-US" sz="1400" dirty="0"/>
          </a:p>
        </p:txBody>
      </p:sp>
      <p:sp>
        <p:nvSpPr>
          <p:cNvPr id="3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lgn="l">
              <a:buNone/>
            </a:pPr>
            <a:r>
              <a:rPr lang="en-US" sz="3000" b="1" dirty="0">
                <a:solidFill>
                  <a:schemeClr val="bg1"/>
                </a:solidFill>
                <a:latin typeface="Arial" pitchFamily="34" charset="0"/>
                <a:ea typeface="Arial" pitchFamily="34" charset="-122"/>
                <a:cs typeface="Arial" pitchFamily="34" charset="-120"/>
              </a:rPr>
              <a:t>Dostępność cyfrowa i stan prototypu</a:t>
            </a:r>
            <a:endParaRPr lang="en-US" sz="3000" dirty="0"/>
          </a:p>
        </p:txBody>
      </p:sp>
      <p:sp>
        <p:nvSpPr>
          <p:cNvPr id="3" name="Działa dziś"/>
          <p:cNvSpPr/>
          <p:nvPr/>
        </p:nvSpPr>
        <p:spPr>
          <a:xfrm>
            <a:off x="548640" y="1325880"/>
            <a:ext cx="5387188" cy="3520440"/>
          </a:xfrm>
          <a:prstGeom prst="roundRect">
            <a:avLst>
              <a:gd name="adj" fmla="val 3117"/>
            </a:avLst>
          </a:prstGeom>
          <a:solidFill>
            <a:schemeClr val="bg1"/>
          </a:solidFill>
          <a:ln w="12700">
            <a:solidFill>
              <a:schemeClr val="bg1"/>
            </a:solidFill>
            <a:prstDash val="solid"/>
          </a:ln>
        </p:spPr>
        <p:txBody>
          <a:bodyPr/>
          <a:lstStyle/>
          <a:p>
            <a:endParaRPr lang="pl-PL"/>
          </a:p>
        </p:txBody>
      </p:sp>
      <p:sp>
        <p:nvSpPr>
          <p:cNvPr id="4" name="Działa dziś – tło"/>
          <p:cNvSpPr/>
          <p:nvPr/>
        </p:nvSpPr>
        <p:spPr>
          <a:xfrm>
            <a:off x="822960" y="1581912"/>
            <a:ext cx="548640" cy="548640"/>
          </a:xfrm>
          <a:prstGeom prst="ellipse">
            <a:avLst/>
          </a:prstGeom>
          <a:solidFill>
            <a:schemeClr val="accent3"/>
          </a:solidFill>
          <a:ln w="12700">
            <a:solidFill>
              <a:schemeClr val="accent3"/>
            </a:solidFill>
            <a:prstDash val="solid"/>
          </a:ln>
        </p:spPr>
        <p:txBody>
          <a:bodyPr/>
          <a:lstStyle/>
          <a:p>
            <a:endParaRPr lang="pl-PL"/>
          </a:p>
        </p:txBody>
      </p:sp>
      <p:pic>
        <p:nvPicPr>
          <p:cNvPr id="5" name="Działa dziś" descr="Działa dziś"/>
          <p:cNvPicPr>
            <a:picLocks noChangeAspect="1"/>
          </p:cNvPicPr>
          <p:nvPr/>
        </p:nvPicPr>
        <p:blipFill>
          <a:blip r:embed="rId3"/>
          <a:stretch>
            <a:fillRect/>
          </a:stretch>
        </p:blipFill>
        <p:spPr>
          <a:xfrm>
            <a:off x="960120" y="1719072"/>
            <a:ext cx="274320" cy="274320"/>
          </a:xfrm>
          <a:prstGeom prst="rect">
            <a:avLst/>
          </a:prstGeom>
        </p:spPr>
      </p:pic>
      <p:sp>
        <p:nvSpPr>
          <p:cNvPr id="6" name="Text 3"/>
          <p:cNvSpPr txBox="1"/>
          <p:nvPr/>
        </p:nvSpPr>
        <p:spPr>
          <a:xfrm>
            <a:off x="1508760" y="1581912"/>
            <a:ext cx="4198468" cy="548640"/>
          </a:xfrm>
          <a:prstGeom prst="rect">
            <a:avLst/>
          </a:prstGeom>
          <a:noFill/>
          <a:ln/>
        </p:spPr>
        <p:txBody>
          <a:bodyPr wrap="square" lIns="0" tIns="0" rIns="0" bIns="0" rtlCol="0" anchor="ctr"/>
          <a:lstStyle/>
          <a:p>
            <a:pPr marL="0" indent="0">
              <a:buNone/>
            </a:pPr>
            <a:r>
              <a:rPr lang="en-US" sz="2000" b="1" dirty="0">
                <a:solidFill>
                  <a:schemeClr val="tx2"/>
                </a:solidFill>
              </a:rPr>
              <a:t>Działa dziś</a:t>
            </a:r>
            <a:endParaRPr lang="en-US" sz="2000" dirty="0"/>
          </a:p>
        </p:txBody>
      </p:sp>
      <p:sp>
        <p:nvSpPr>
          <p:cNvPr id="7" name="Text 4"/>
          <p:cNvSpPr txBox="1"/>
          <p:nvPr/>
        </p:nvSpPr>
        <p:spPr>
          <a:xfrm>
            <a:off x="822960" y="2331720"/>
            <a:ext cx="4838548" cy="27889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Cała ścieżka z klawiatury: „Przejdź do treści”, menu z Esc, fokus na błędach</a:t>
            </a:r>
            <a:endParaRPr lang="en-US" sz="1500" dirty="0"/>
          </a:p>
          <a:p>
            <a:pPr marL="203200" indent="-203200">
              <a:spcAft>
                <a:spcPts val="800"/>
              </a:spcAft>
              <a:buSzPct val="100000"/>
              <a:buChar char="•"/>
            </a:pPr>
            <a:r>
              <a:rPr lang="en-US" sz="1500" dirty="0">
                <a:solidFill>
                  <a:schemeClr val="tx1"/>
                </a:solidFill>
              </a:rPr>
              <a:t>Komunikaty dla czytników ekranu (wyniki, zapis, błędy)</a:t>
            </a:r>
            <a:endParaRPr lang="en-US" sz="1500" dirty="0"/>
          </a:p>
          <a:p>
            <a:pPr marL="203200" indent="-203200">
              <a:spcAft>
                <a:spcPts val="800"/>
              </a:spcAft>
              <a:buSzPct val="100000"/>
              <a:buChar char="•"/>
            </a:pPr>
            <a:r>
              <a:rPr lang="en-US" sz="1500" dirty="0">
                <a:solidFill>
                  <a:schemeClr val="tx1"/>
                </a:solidFill>
              </a:rPr>
              <a:t>Status oznaczony kształtem i słowem, nie tylko kolorem; kontrast AA</a:t>
            </a:r>
            <a:endParaRPr lang="en-US" sz="1500" dirty="0"/>
          </a:p>
          <a:p>
            <a:pPr marL="203200" indent="-203200">
              <a:spcAft>
                <a:spcPts val="800"/>
              </a:spcAft>
              <a:buSzPct val="100000"/>
              <a:buChar char="•"/>
            </a:pPr>
            <a:r>
              <a:rPr lang="en-US" sz="1500" dirty="0">
                <a:solidFill>
                  <a:schemeClr val="tx1"/>
                </a:solidFill>
              </a:rPr>
              <a:t>Lista i opis trasy jako tekstowa alternatywa każdej mapy</a:t>
            </a:r>
            <a:endParaRPr lang="en-US" sz="1500" dirty="0"/>
          </a:p>
          <a:p>
            <a:pPr marL="203200" indent="-203200">
              <a:spcAft>
                <a:spcPts val="800"/>
              </a:spcAft>
              <a:buSzPct val="100000"/>
              <a:buChar char="•"/>
            </a:pPr>
            <a:r>
              <a:rPr lang="en-US" sz="1500" dirty="0">
                <a:solidFill>
                  <a:schemeClr val="tx1"/>
                </a:solidFill>
              </a:rPr>
              <a:t>Mobile first, cele dotykowe min. 48 px</a:t>
            </a:r>
            <a:endParaRPr lang="en-US" sz="1500" dirty="0"/>
          </a:p>
        </p:txBody>
      </p:sp>
      <p:sp>
        <p:nvSpPr>
          <p:cNvPr id="8" name="Do zrobienia (plan)"/>
          <p:cNvSpPr/>
          <p:nvPr/>
        </p:nvSpPr>
        <p:spPr>
          <a:xfrm>
            <a:off x="6255868" y="1325880"/>
            <a:ext cx="5387188" cy="3520440"/>
          </a:xfrm>
          <a:prstGeom prst="roundRect">
            <a:avLst>
              <a:gd name="adj" fmla="val 3117"/>
            </a:avLst>
          </a:prstGeom>
          <a:solidFill>
            <a:schemeClr val="bg1"/>
          </a:solidFill>
          <a:ln w="12700">
            <a:solidFill>
              <a:schemeClr val="bg1"/>
            </a:solidFill>
            <a:prstDash val="solid"/>
          </a:ln>
        </p:spPr>
        <p:txBody>
          <a:bodyPr/>
          <a:lstStyle/>
          <a:p>
            <a:endParaRPr lang="pl-PL"/>
          </a:p>
        </p:txBody>
      </p:sp>
      <p:sp>
        <p:nvSpPr>
          <p:cNvPr id="9" name="Do zrobienia (plan) – tło"/>
          <p:cNvSpPr/>
          <p:nvPr/>
        </p:nvSpPr>
        <p:spPr>
          <a:xfrm>
            <a:off x="6530188" y="1581912"/>
            <a:ext cx="548640" cy="548640"/>
          </a:xfrm>
          <a:prstGeom prst="ellipse">
            <a:avLst/>
          </a:prstGeom>
          <a:solidFill>
            <a:schemeClr val="accent5"/>
          </a:solidFill>
          <a:ln w="12700">
            <a:solidFill>
              <a:schemeClr val="accent5"/>
            </a:solidFill>
            <a:prstDash val="solid"/>
          </a:ln>
        </p:spPr>
        <p:txBody>
          <a:bodyPr/>
          <a:lstStyle/>
          <a:p>
            <a:endParaRPr lang="pl-PL"/>
          </a:p>
        </p:txBody>
      </p:sp>
      <p:pic>
        <p:nvPicPr>
          <p:cNvPr id="10" name="Do zrobienia (plan)" descr="Do zrobienia (plan)"/>
          <p:cNvPicPr>
            <a:picLocks noChangeAspect="1"/>
          </p:cNvPicPr>
          <p:nvPr/>
        </p:nvPicPr>
        <p:blipFill>
          <a:blip r:embed="rId4"/>
          <a:stretch>
            <a:fillRect/>
          </a:stretch>
        </p:blipFill>
        <p:spPr>
          <a:xfrm>
            <a:off x="6667348" y="1719072"/>
            <a:ext cx="274320" cy="274320"/>
          </a:xfrm>
          <a:prstGeom prst="rect">
            <a:avLst/>
          </a:prstGeom>
        </p:spPr>
      </p:pic>
      <p:sp>
        <p:nvSpPr>
          <p:cNvPr id="11" name="Text 7"/>
          <p:cNvSpPr txBox="1"/>
          <p:nvPr/>
        </p:nvSpPr>
        <p:spPr>
          <a:xfrm>
            <a:off x="7215988" y="1581912"/>
            <a:ext cx="4198468" cy="548640"/>
          </a:xfrm>
          <a:prstGeom prst="rect">
            <a:avLst/>
          </a:prstGeom>
          <a:noFill/>
          <a:ln/>
        </p:spPr>
        <p:txBody>
          <a:bodyPr wrap="square" lIns="0" tIns="0" rIns="0" bIns="0" rtlCol="0" anchor="ctr"/>
          <a:lstStyle/>
          <a:p>
            <a:pPr marL="0" indent="0">
              <a:buNone/>
            </a:pPr>
            <a:r>
              <a:rPr lang="en-US" sz="2000" b="1" dirty="0">
                <a:solidFill>
                  <a:schemeClr val="tx2"/>
                </a:solidFill>
              </a:rPr>
              <a:t>Do zrobienia (plan)</a:t>
            </a:r>
            <a:endParaRPr lang="en-US" sz="2000" dirty="0"/>
          </a:p>
        </p:txBody>
      </p:sp>
      <p:sp>
        <p:nvSpPr>
          <p:cNvPr id="12" name="Text 8"/>
          <p:cNvSpPr txBox="1"/>
          <p:nvPr/>
        </p:nvSpPr>
        <p:spPr>
          <a:xfrm>
            <a:off x="6530188" y="2331720"/>
            <a:ext cx="4838548" cy="27889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Testy z VoiceOver i TalkBack z udziałem użytkowników</a:t>
            </a:r>
            <a:endParaRPr lang="en-US" sz="1500" dirty="0"/>
          </a:p>
          <a:p>
            <a:pPr marL="203200" indent="-203200">
              <a:spcAft>
                <a:spcPts val="800"/>
              </a:spcAft>
              <a:buSzPct val="100000"/>
              <a:buChar char="•"/>
            </a:pPr>
            <a:r>
              <a:rPr lang="en-US" sz="1500" dirty="0">
                <a:solidFill>
                  <a:schemeClr val="tx1"/>
                </a:solidFill>
              </a:rPr>
              <a:t>Pełna obsługa samej mapy z klawiatury</a:t>
            </a:r>
            <a:endParaRPr lang="en-US" sz="1500" dirty="0"/>
          </a:p>
          <a:p>
            <a:pPr marL="203200" indent="-203200">
              <a:spcAft>
                <a:spcPts val="800"/>
              </a:spcAft>
              <a:buSzPct val="100000"/>
              <a:buChar char="•"/>
            </a:pPr>
            <a:r>
              <a:rPr lang="en-US" sz="1500" dirty="0">
                <a:solidFill>
                  <a:schemeClr val="tx1"/>
                </a:solidFill>
              </a:rPr>
              <a:t>Nachylenie terenu w trasach (dane wysokościowe)</a:t>
            </a:r>
            <a:endParaRPr lang="en-US" sz="1500" dirty="0"/>
          </a:p>
          <a:p>
            <a:pPr marL="203200" indent="-203200">
              <a:spcAft>
                <a:spcPts val="800"/>
              </a:spcAft>
              <a:buSzPct val="100000"/>
              <a:buChar char="•"/>
            </a:pPr>
            <a:r>
              <a:rPr lang="en-US" sz="1500" dirty="0">
                <a:solidFill>
                  <a:schemeClr val="tx1"/>
                </a:solidFill>
              </a:rPr>
              <a:t>Zbiór miejski z atrybutami dostępności</a:t>
            </a:r>
            <a:endParaRPr lang="en-US" sz="1500" dirty="0"/>
          </a:p>
          <a:p>
            <a:pPr marL="203200" indent="-203200">
              <a:spcAft>
                <a:spcPts val="800"/>
              </a:spcAft>
              <a:buSzPct val="100000"/>
              <a:buChar char="•"/>
            </a:pPr>
            <a:r>
              <a:rPr lang="en-US" sz="1500" dirty="0">
                <a:solidFill>
                  <a:schemeClr val="tx1"/>
                </a:solidFill>
              </a:rPr>
              <a:t>Wersja w tekście łatwym do czytania</a:t>
            </a:r>
            <a:endParaRPr lang="en-US" sz="1500" dirty="0"/>
          </a:p>
        </p:txBody>
      </p:sp>
      <p:sp>
        <p:nvSpPr>
          <p:cNvPr id="13" name="Logo – tło"/>
          <p:cNvSpPr/>
          <p:nvPr/>
        </p:nvSpPr>
        <p:spPr>
          <a:xfrm>
            <a:off x="548640" y="5230368"/>
            <a:ext cx="2087836" cy="777240"/>
          </a:xfrm>
          <a:prstGeom prst="roundRect">
            <a:avLst>
              <a:gd name="adj" fmla="val 18000"/>
            </a:avLst>
          </a:prstGeom>
          <a:solidFill>
            <a:schemeClr val="bg1"/>
          </a:solidFill>
          <a:ln w="12700">
            <a:solidFill>
              <a:schemeClr val="bg1"/>
            </a:solidFill>
            <a:prstDash val="solid"/>
          </a:ln>
        </p:spPr>
        <p:txBody>
          <a:bodyPr/>
          <a:lstStyle/>
          <a:p>
            <a:endParaRPr lang="pl-PL"/>
          </a:p>
        </p:txBody>
      </p:sp>
      <p:pic>
        <p:nvPicPr>
          <p:cNvPr id="14" name="Logo BezProgu" descr="Logo BezProgu"/>
          <p:cNvPicPr>
            <a:picLocks noChangeAspect="1"/>
          </p:cNvPicPr>
          <p:nvPr/>
        </p:nvPicPr>
        <p:blipFill>
          <a:blip r:embed="rId5"/>
          <a:stretch>
            <a:fillRect/>
          </a:stretch>
        </p:blipFill>
        <p:spPr>
          <a:xfrm>
            <a:off x="749808" y="5385816"/>
            <a:ext cx="1685500" cy="466344"/>
          </a:xfrm>
          <a:prstGeom prst="rect">
            <a:avLst/>
          </a:prstGeom>
        </p:spPr>
      </p:pic>
      <p:sp>
        <p:nvSpPr>
          <p:cNvPr id="15" name="Text 10"/>
          <p:cNvSpPr txBox="1"/>
          <p:nvPr/>
        </p:nvSpPr>
        <p:spPr>
          <a:xfrm>
            <a:off x="2880360" y="5349240"/>
            <a:ext cx="2743200" cy="548640"/>
          </a:xfrm>
          <a:prstGeom prst="rect">
            <a:avLst/>
          </a:prstGeom>
          <a:noFill/>
          <a:ln/>
        </p:spPr>
        <p:txBody>
          <a:bodyPr wrap="square" lIns="0" tIns="0" rIns="0" bIns="0" rtlCol="0" anchor="ctr"/>
          <a:lstStyle/>
          <a:p>
            <a:pPr marL="0" indent="0">
              <a:buNone/>
            </a:pPr>
            <a:r>
              <a:rPr lang="en-US" sz="2800" b="1" dirty="0">
                <a:solidFill>
                  <a:schemeClr val="accent1">
                    <a:lumMod val="20000"/>
                    <a:lumOff val="80000"/>
                  </a:schemeClr>
                </a:solidFill>
                <a:latin typeface="Arial" pitchFamily="34" charset="0"/>
                <a:ea typeface="Arial" pitchFamily="34" charset="-122"/>
                <a:cs typeface="Arial" pitchFamily="34" charset="-120"/>
              </a:rPr>
              <a:t>Dziękujemy!</a:t>
            </a:r>
            <a:endParaRPr lang="en-US" sz="2800" dirty="0">
              <a:solidFill>
                <a:schemeClr val="accent1">
                  <a:lumMod val="20000"/>
                  <a:lumOff val="80000"/>
                </a:schemeClr>
              </a:solidFill>
            </a:endParaRPr>
          </a:p>
        </p:txBody>
      </p:sp>
      <p:sp>
        <p:nvSpPr>
          <p:cNvPr id="16" name="Text 11"/>
          <p:cNvSpPr txBox="1"/>
          <p:nvPr/>
        </p:nvSpPr>
        <p:spPr>
          <a:xfrm>
            <a:off x="4206240" y="5303520"/>
            <a:ext cx="7436815" cy="640080"/>
          </a:xfrm>
          <a:prstGeom prst="rect">
            <a:avLst/>
          </a:prstGeom>
          <a:noFill/>
          <a:ln/>
        </p:spPr>
        <p:txBody>
          <a:bodyPr wrap="square" lIns="0" tIns="0" rIns="0" bIns="0" rtlCol="0" anchor="ctr"/>
          <a:lstStyle/>
          <a:p>
            <a:pPr marL="0" indent="0" algn="r">
              <a:buNone/>
            </a:pPr>
            <a:r>
              <a:rPr lang="en-US" sz="1400" dirty="0">
                <a:solidFill>
                  <a:schemeClr val="bg2"/>
                </a:solidFill>
              </a:rPr>
              <a:t>Kod: github.com/szymonglowka/crackowwithoutbarries</a:t>
            </a:r>
            <a:endParaRPr lang="en-US" sz="1400" dirty="0"/>
          </a:p>
          <a:p>
            <a:pPr marL="0" indent="0" algn="r">
              <a:buNone/>
            </a:pPr>
            <a:r>
              <a:rPr lang="en-US" sz="1400" dirty="0">
                <a:solidFill>
                  <a:schemeClr val="bg2"/>
                </a:solidFill>
              </a:rPr>
              <a:t>Cel rozwoju: WCAG 2.2 AA</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BezProgu">
  <a:themeElements>
    <a:clrScheme name="BezProgu">
      <a:dk1>
        <a:srgbClr val="1A1A1A"/>
      </a:dk1>
      <a:lt1>
        <a:srgbClr val="FFFFFF"/>
      </a:lt1>
      <a:dk2>
        <a:srgbClr val="0E2238"/>
      </a:dk2>
      <a:lt2>
        <a:srgbClr val="EEF3F9"/>
      </a:lt2>
      <a:accent1>
        <a:srgbClr val="0B4F9C"/>
      </a:accent1>
      <a:accent2>
        <a:srgbClr val="F2B33D"/>
      </a:accent2>
      <a:accent3>
        <a:srgbClr val="1D6B2F"/>
      </a:accent3>
      <a:accent4>
        <a:srgbClr val="A8200D"/>
      </a:accent4>
      <a:accent5>
        <a:srgbClr val="8A3B00"/>
      </a:accent5>
      <a:accent6>
        <a:srgbClr val="4A4A4A"/>
      </a:accent6>
      <a:hlink>
        <a:srgbClr val="0B4F9C"/>
      </a:hlink>
      <a:folHlink>
        <a:srgbClr val="5B2A86"/>
      </a:folHlink>
    </a:clrScheme>
    <a:fontScheme name="BezProgu">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1985</Words>
  <Application>Microsoft Office PowerPoint</Application>
  <PresentationFormat>Widescreen</PresentationFormat>
  <Paragraphs>205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BezProgu</vt:lpstr>
      <vt:lpstr>PowerPoint Presentation</vt:lpstr>
      <vt:lpstr>„Dostępne ✓” nie mówi, czy wjedziesz do środka</vt:lpstr>
      <vt:lpstr>Trzy kroki: potrzeby, wyszukanie, samodzielna ocena</vt:lpstr>
      <vt:lpstr>Karta miejsca: fakty, ich źródło i luki w danych</vt:lpstr>
      <vt:lpstr>Trasa krok po kroku i poprawki danych w minutę</vt:lpstr>
      <vt:lpstr>Sześć statusów wiarygodności i jasne reguły na awarie</vt:lpstr>
      <vt:lpstr>Pozyskiwanie danych oddzielone od prezentacji</vt:lpstr>
      <vt:lpstr>Darmowe dla użytkowników, płatne dla obiektów i platform</vt:lpstr>
      <vt:lpstr>Od prototypu do usługi w kolejnych miastach</vt:lpstr>
      <vt:lpstr>Dostępność cyfrowa i stan prototypu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BezProgu — Kraków bez barier</dc:title>
  <dc:subject>PptxGenJS Presentation</dc:subject>
  <dc:creator>Zespół BezProgu</dc:creator>
  <cp:lastModifiedBy>Pola Palonek</cp:lastModifiedBy>
  <cp:revision>2</cp:revision>
  <dcterms:created xsi:type="dcterms:W3CDTF">2026-10-04T08:10:56Z</dcterms:created>
  <dcterms:modified xsi:type="dcterms:W3CDTF">2026-10-04T08:33:15Z</dcterms:modified>
</cp:coreProperties>
</file>